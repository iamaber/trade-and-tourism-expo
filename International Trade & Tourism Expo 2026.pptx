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Anek Bangla SemiCondensed" charset="1" panose="00000000000000000000"/>
      <p:regular r:id="rId29"/>
    </p:embeddedFont>
    <p:embeddedFont>
      <p:font typeface="Anek Bangla SemiCondensed Bold" charset="1" panose="00000000000000000000"/>
      <p:regular r:id="rId30"/>
    </p:embeddedFont>
    <p:embeddedFont>
      <p:font typeface="Anek Bangla SemiCondensed Medium" charset="1" panose="00000000000000000000"/>
      <p:regular r:id="rId31"/>
    </p:embeddedFont>
    <p:embeddedFont>
      <p:font typeface="Rubik" charset="1" panose="00000000000000000000"/>
      <p:regular r:id="rId32"/>
    </p:embeddedFont>
    <p:embeddedFont>
      <p:font typeface="Barlow Light" charset="1" panose="00000400000000000000"/>
      <p:regular r:id="rId33"/>
    </p:embeddedFont>
    <p:embeddedFont>
      <p:font typeface="Rubik Medium" charset="1" panose="00000600000000000000"/>
      <p:regular r:id="rId34"/>
    </p:embeddedFont>
    <p:embeddedFont>
      <p:font typeface="Anek Bangla SemiCondensed Semi-Bold" charset="1" panose="00000000000000000000"/>
      <p:regular r:id="rId35"/>
    </p:embeddedFont>
    <p:embeddedFont>
      <p:font typeface="Barlow Bold" charset="1" panose="00000800000000000000"/>
      <p:regular r:id="rId36"/>
    </p:embeddedFont>
    <p:embeddedFont>
      <p:font typeface="Proxima Nova Bold" charset="1" panose="02000506030000020004"/>
      <p:regular r:id="rId37"/>
    </p:embeddedFont>
    <p:embeddedFont>
      <p:font typeface="Proxima Nova" charset="1" panose="02000506030000020004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png" Type="http://schemas.openxmlformats.org/officeDocument/2006/relationships/image"/><Relationship Id="rId12" Target="../media/image25.png" Type="http://schemas.openxmlformats.org/officeDocument/2006/relationships/image"/><Relationship Id="rId13" Target="../media/image26.png" Type="http://schemas.openxmlformats.org/officeDocument/2006/relationships/image"/><Relationship Id="rId14" Target="../media/image27.png" Type="http://schemas.openxmlformats.org/officeDocument/2006/relationships/image"/><Relationship Id="rId15" Target="../media/image28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2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30.jpeg" Type="http://schemas.openxmlformats.org/officeDocument/2006/relationships/image"/><Relationship Id="rId5" Target="../media/image31.jpeg" Type="http://schemas.openxmlformats.org/officeDocument/2006/relationships/image"/><Relationship Id="rId6" Target="../media/image3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jpeg" Type="http://schemas.openxmlformats.org/officeDocument/2006/relationships/image"/><Relationship Id="rId3" Target="../media/image34.jpeg" Type="http://schemas.openxmlformats.org/officeDocument/2006/relationships/image"/><Relationship Id="rId4" Target="../media/image35.jpe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jpeg" Type="http://schemas.openxmlformats.org/officeDocument/2006/relationships/image"/><Relationship Id="rId4" Target="../media/image38.jpe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png" Type="http://schemas.openxmlformats.org/officeDocument/2006/relationships/image"/><Relationship Id="rId4" Target="../media/image41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jpeg" Type="http://schemas.openxmlformats.org/officeDocument/2006/relationships/image"/><Relationship Id="rId3" Target="../media/image43.jpeg" Type="http://schemas.openxmlformats.org/officeDocument/2006/relationships/image"/><Relationship Id="rId4" Target="../media/image44.jpe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46.svg" Type="http://schemas.openxmlformats.org/officeDocument/2006/relationships/image"/><Relationship Id="rId4" Target="../media/image47.png" Type="http://schemas.openxmlformats.org/officeDocument/2006/relationships/image"/><Relationship Id="rId5" Target="../media/image4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46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49.png" Type="http://schemas.openxmlformats.org/officeDocument/2006/relationships/image"/><Relationship Id="rId7" Target="../media/image5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jpeg" Type="http://schemas.openxmlformats.org/officeDocument/2006/relationships/image"/><Relationship Id="rId3" Target="../media/image54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jpeg" Type="http://schemas.openxmlformats.org/officeDocument/2006/relationships/image"/><Relationship Id="rId3" Target="../media/image56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7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196508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63445" y="6506823"/>
            <a:ext cx="2679461" cy="3827802"/>
          </a:xfrm>
          <a:custGeom>
            <a:avLst/>
            <a:gdLst/>
            <a:ahLst/>
            <a:cxnLst/>
            <a:rect r="r" b="b" t="t" l="l"/>
            <a:pathLst>
              <a:path h="3827802" w="2679461">
                <a:moveTo>
                  <a:pt x="0" y="0"/>
                </a:moveTo>
                <a:lnTo>
                  <a:pt x="2679462" y="0"/>
                </a:lnTo>
                <a:lnTo>
                  <a:pt x="2679462" y="3827802"/>
                </a:lnTo>
                <a:lnTo>
                  <a:pt x="0" y="38278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4620239" y="8692043"/>
            <a:ext cx="2927878" cy="2235834"/>
          </a:xfrm>
          <a:custGeom>
            <a:avLst/>
            <a:gdLst/>
            <a:ahLst/>
            <a:cxnLst/>
            <a:rect r="r" b="b" t="t" l="l"/>
            <a:pathLst>
              <a:path h="2235834" w="2927878">
                <a:moveTo>
                  <a:pt x="0" y="0"/>
                </a:moveTo>
                <a:lnTo>
                  <a:pt x="2927878" y="0"/>
                </a:lnTo>
                <a:lnTo>
                  <a:pt x="2927878" y="2235834"/>
                </a:lnTo>
                <a:lnTo>
                  <a:pt x="0" y="22358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099810" y="1771212"/>
            <a:ext cx="9256184" cy="4933731"/>
          </a:xfrm>
          <a:custGeom>
            <a:avLst/>
            <a:gdLst/>
            <a:ahLst/>
            <a:cxnLst/>
            <a:rect r="r" b="b" t="t" l="l"/>
            <a:pathLst>
              <a:path h="4933731" w="9256184">
                <a:moveTo>
                  <a:pt x="0" y="0"/>
                </a:moveTo>
                <a:lnTo>
                  <a:pt x="9256185" y="0"/>
                </a:lnTo>
                <a:lnTo>
                  <a:pt x="9256185" y="4933731"/>
                </a:lnTo>
                <a:lnTo>
                  <a:pt x="0" y="49337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3008" r="0" b="-44601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171482" y="6388710"/>
            <a:ext cx="12504420" cy="680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280"/>
              </a:lnSpc>
            </a:pPr>
            <a:r>
              <a:rPr lang="en-US" sz="4800">
                <a:solidFill>
                  <a:srgbClr val="FFFFFF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Discover the World with Business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370113" y="7840858"/>
            <a:ext cx="11383963" cy="642318"/>
            <a:chOff x="0" y="0"/>
            <a:chExt cx="15178617" cy="85642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8490244" y="0"/>
              <a:ext cx="1548742" cy="856423"/>
            </a:xfrm>
            <a:custGeom>
              <a:avLst/>
              <a:gdLst/>
              <a:ahLst/>
              <a:cxnLst/>
              <a:rect r="r" b="b" t="t" l="l"/>
              <a:pathLst>
                <a:path h="856423" w="1548742">
                  <a:moveTo>
                    <a:pt x="0" y="0"/>
                  </a:moveTo>
                  <a:lnTo>
                    <a:pt x="1548742" y="0"/>
                  </a:lnTo>
                  <a:lnTo>
                    <a:pt x="1548742" y="856423"/>
                  </a:lnTo>
                  <a:lnTo>
                    <a:pt x="0" y="856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0305686" y="145875"/>
              <a:ext cx="1266611" cy="520894"/>
            </a:xfrm>
            <a:custGeom>
              <a:avLst/>
              <a:gdLst/>
              <a:ahLst/>
              <a:cxnLst/>
              <a:rect r="r" b="b" t="t" l="l"/>
              <a:pathLst>
                <a:path h="520894" w="1266611">
                  <a:moveTo>
                    <a:pt x="0" y="0"/>
                  </a:moveTo>
                  <a:lnTo>
                    <a:pt x="1266611" y="0"/>
                  </a:lnTo>
                  <a:lnTo>
                    <a:pt x="1266611" y="520894"/>
                  </a:lnTo>
                  <a:lnTo>
                    <a:pt x="0" y="520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999965" y="207885"/>
              <a:ext cx="1358066" cy="440653"/>
            </a:xfrm>
            <a:custGeom>
              <a:avLst/>
              <a:gdLst/>
              <a:ahLst/>
              <a:cxnLst/>
              <a:rect r="r" b="b" t="t" l="l"/>
              <a:pathLst>
                <a:path h="440653" w="1358066">
                  <a:moveTo>
                    <a:pt x="0" y="0"/>
                  </a:moveTo>
                  <a:lnTo>
                    <a:pt x="1358066" y="0"/>
                  </a:lnTo>
                  <a:lnTo>
                    <a:pt x="1358066" y="440653"/>
                  </a:lnTo>
                  <a:lnTo>
                    <a:pt x="0" y="440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38254" r="-1892" b="-38384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3895801" y="171648"/>
              <a:ext cx="1282816" cy="513126"/>
            </a:xfrm>
            <a:custGeom>
              <a:avLst/>
              <a:gdLst/>
              <a:ahLst/>
              <a:cxnLst/>
              <a:rect r="r" b="b" t="t" l="l"/>
              <a:pathLst>
                <a:path h="513126" w="1282816">
                  <a:moveTo>
                    <a:pt x="0" y="0"/>
                  </a:moveTo>
                  <a:lnTo>
                    <a:pt x="1282816" y="0"/>
                  </a:lnTo>
                  <a:lnTo>
                    <a:pt x="1282816" y="513127"/>
                  </a:lnTo>
                  <a:lnTo>
                    <a:pt x="0" y="513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557673" y="247647"/>
              <a:ext cx="1983805" cy="317409"/>
            </a:xfrm>
            <a:custGeom>
              <a:avLst/>
              <a:gdLst/>
              <a:ahLst/>
              <a:cxnLst/>
              <a:rect r="r" b="b" t="t" l="l"/>
              <a:pathLst>
                <a:path h="317409" w="1983805">
                  <a:moveTo>
                    <a:pt x="0" y="0"/>
                  </a:moveTo>
                  <a:lnTo>
                    <a:pt x="1983806" y="0"/>
                  </a:lnTo>
                  <a:lnTo>
                    <a:pt x="1983806" y="317408"/>
                  </a:lnTo>
                  <a:lnTo>
                    <a:pt x="0" y="317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0" y="188141"/>
              <a:ext cx="1904174" cy="4216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419"/>
                </a:lnSpc>
              </a:pPr>
              <a:r>
                <a:rPr lang="en-US" sz="2199">
                  <a:solidFill>
                    <a:srgbClr val="FFFFFF"/>
                  </a:solidFill>
                  <a:latin typeface="Anek Bangla SemiCondensed"/>
                  <a:ea typeface="Anek Bangla SemiCondensed"/>
                  <a:cs typeface="Anek Bangla SemiCondensed"/>
                  <a:sym typeface="Anek Bangla SemiCondensed"/>
                </a:rPr>
                <a:t>Organized By-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5744679" y="205045"/>
              <a:ext cx="2477769" cy="421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419"/>
                </a:lnSpc>
              </a:pPr>
              <a:r>
                <a:rPr lang="en-US" sz="2199">
                  <a:solidFill>
                    <a:srgbClr val="FFFFFF"/>
                  </a:solidFill>
                  <a:latin typeface="Anek Bangla SemiCondensed"/>
                  <a:ea typeface="Anek Bangla SemiCondensed"/>
                  <a:cs typeface="Anek Bangla SemiCondensed"/>
                  <a:sym typeface="Anek Bangla SemiCondensed"/>
                </a:rPr>
                <a:t>Strategic Partner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1316432" y="188141"/>
              <a:ext cx="2477769" cy="4216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419"/>
                </a:lnSpc>
              </a:pPr>
              <a:r>
                <a:rPr lang="en-US" sz="2199">
                  <a:solidFill>
                    <a:srgbClr val="FFFFFF"/>
                  </a:solidFill>
                  <a:latin typeface="Anek Bangla SemiCondensed"/>
                  <a:ea typeface="Anek Bangla SemiCondensed"/>
                  <a:cs typeface="Anek Bangla SemiCondensed"/>
                  <a:sym typeface="Anek Bangla SemiCondensed"/>
                </a:rPr>
                <a:t>In Association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952318" y="9484736"/>
            <a:ext cx="4102978" cy="2245448"/>
          </a:xfrm>
          <a:custGeom>
            <a:avLst/>
            <a:gdLst/>
            <a:ahLst/>
            <a:cxnLst/>
            <a:rect r="r" b="b" t="t" l="l"/>
            <a:pathLst>
              <a:path h="2245448" w="410297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584290" y="-814367"/>
            <a:ext cx="3694060" cy="2820919"/>
          </a:xfrm>
          <a:custGeom>
            <a:avLst/>
            <a:gdLst/>
            <a:ahLst/>
            <a:cxnLst/>
            <a:rect r="r" b="b" t="t" l="l"/>
            <a:pathLst>
              <a:path h="2820919" w="3694060">
                <a:moveTo>
                  <a:pt x="0" y="0"/>
                </a:moveTo>
                <a:lnTo>
                  <a:pt x="3694060" y="0"/>
                </a:lnTo>
                <a:lnTo>
                  <a:pt x="3694060" y="2820919"/>
                </a:lnTo>
                <a:lnTo>
                  <a:pt x="0" y="28209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487231" y="3245700"/>
            <a:ext cx="4730560" cy="3702790"/>
          </a:xfrm>
          <a:custGeom>
            <a:avLst/>
            <a:gdLst/>
            <a:ahLst/>
            <a:cxnLst/>
            <a:rect r="r" b="b" t="t" l="l"/>
            <a:pathLst>
              <a:path h="3702790" w="4730560">
                <a:moveTo>
                  <a:pt x="0" y="0"/>
                </a:moveTo>
                <a:lnTo>
                  <a:pt x="4730560" y="0"/>
                </a:lnTo>
                <a:lnTo>
                  <a:pt x="4730560" y="3702789"/>
                </a:lnTo>
                <a:lnTo>
                  <a:pt x="0" y="37027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249" t="0" r="-2249" b="0"/>
            </a:stretch>
          </a:blipFill>
          <a:ln w="57150" cap="sq">
            <a:solidFill>
              <a:srgbClr val="AA4219"/>
            </a:solidFill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1965806" y="6020255"/>
            <a:ext cx="2398113" cy="1127081"/>
          </a:xfrm>
          <a:custGeom>
            <a:avLst/>
            <a:gdLst/>
            <a:ahLst/>
            <a:cxnLst/>
            <a:rect r="r" b="b" t="t" l="l"/>
            <a:pathLst>
              <a:path h="1127081" w="2398113">
                <a:moveTo>
                  <a:pt x="0" y="0"/>
                </a:moveTo>
                <a:lnTo>
                  <a:pt x="2398113" y="0"/>
                </a:lnTo>
                <a:lnTo>
                  <a:pt x="2398113" y="1127082"/>
                </a:lnTo>
                <a:lnTo>
                  <a:pt x="0" y="11270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101" r="-2200" b="-1101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360263" y="2558531"/>
            <a:ext cx="4396054" cy="560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9"/>
              </a:lnSpc>
            </a:pPr>
            <a:r>
              <a:rPr lang="en-US" b="true" sz="4431" spc="217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Prospective Date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26370" y="2558531"/>
            <a:ext cx="5115840" cy="56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9"/>
              </a:lnSpc>
            </a:pPr>
            <a:r>
              <a:rPr lang="en-US" sz="4431" spc="212" b="true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Probable Venue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370760" y="7785041"/>
            <a:ext cx="3694060" cy="1537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775"/>
              </a:lnSpc>
            </a:pPr>
            <a:r>
              <a:rPr lang="en-US" b="true" sz="6715" spc="174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EVENT</a:t>
            </a:r>
          </a:p>
          <a:p>
            <a:pPr algn="r">
              <a:lnSpc>
                <a:spcPts val="5775"/>
              </a:lnSpc>
            </a:pPr>
            <a:r>
              <a:rPr lang="en-US" b="true" sz="6715" spc="174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DETAILS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096597" y="3245700"/>
            <a:ext cx="4994612" cy="3901637"/>
            <a:chOff x="0" y="0"/>
            <a:chExt cx="10517983" cy="821632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16716" cy="8216581"/>
            </a:xfrm>
            <a:custGeom>
              <a:avLst/>
              <a:gdLst/>
              <a:ahLst/>
              <a:cxnLst/>
              <a:rect r="r" b="b" t="t" l="l"/>
              <a:pathLst>
                <a:path h="8216581" w="10516716">
                  <a:moveTo>
                    <a:pt x="9895683" y="7745154"/>
                  </a:moveTo>
                  <a:cubicBezTo>
                    <a:pt x="9895683" y="7738804"/>
                    <a:pt x="9896953" y="7733724"/>
                    <a:pt x="9896953" y="7726104"/>
                  </a:cubicBezTo>
                  <a:lnTo>
                    <a:pt x="9896953" y="490220"/>
                  </a:lnTo>
                  <a:cubicBezTo>
                    <a:pt x="9896953" y="220980"/>
                    <a:pt x="9687403" y="0"/>
                    <a:pt x="9430863" y="0"/>
                  </a:cubicBezTo>
                  <a:lnTo>
                    <a:pt x="467360" y="0"/>
                  </a:lnTo>
                  <a:cubicBezTo>
                    <a:pt x="210820" y="0"/>
                    <a:pt x="0" y="220980"/>
                    <a:pt x="0" y="490220"/>
                  </a:cubicBezTo>
                  <a:lnTo>
                    <a:pt x="0" y="7726104"/>
                  </a:lnTo>
                  <a:cubicBezTo>
                    <a:pt x="0" y="7995345"/>
                    <a:pt x="209550" y="8216324"/>
                    <a:pt x="466090" y="8216324"/>
                  </a:cubicBezTo>
                  <a:lnTo>
                    <a:pt x="9429593" y="8216324"/>
                  </a:lnTo>
                  <a:cubicBezTo>
                    <a:pt x="9542623" y="8216324"/>
                    <a:pt x="9646762" y="8173145"/>
                    <a:pt x="9726773" y="8103295"/>
                  </a:cubicBezTo>
                  <a:cubicBezTo>
                    <a:pt x="9857583" y="8174414"/>
                    <a:pt x="10170002" y="8315384"/>
                    <a:pt x="10516712" y="8108374"/>
                  </a:cubicBezTo>
                  <a:cubicBezTo>
                    <a:pt x="10517983" y="8108374"/>
                    <a:pt x="10205563" y="8109645"/>
                    <a:pt x="9895683" y="774515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814693" y="5706343"/>
            <a:ext cx="3558044" cy="1197454"/>
            <a:chOff x="0" y="0"/>
            <a:chExt cx="8142208" cy="274024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42208" cy="2740247"/>
            </a:xfrm>
            <a:custGeom>
              <a:avLst/>
              <a:gdLst/>
              <a:ahLst/>
              <a:cxnLst/>
              <a:rect r="r" b="b" t="t" l="l"/>
              <a:pathLst>
                <a:path h="2740247" w="8142208">
                  <a:moveTo>
                    <a:pt x="7837408" y="0"/>
                  </a:moveTo>
                  <a:lnTo>
                    <a:pt x="304800" y="0"/>
                  </a:lnTo>
                  <a:cubicBezTo>
                    <a:pt x="135890" y="0"/>
                    <a:pt x="0" y="135890"/>
                    <a:pt x="0" y="304800"/>
                  </a:cubicBezTo>
                  <a:lnTo>
                    <a:pt x="0" y="2435447"/>
                  </a:lnTo>
                  <a:cubicBezTo>
                    <a:pt x="0" y="2604357"/>
                    <a:pt x="135890" y="2740247"/>
                    <a:pt x="304800" y="2740247"/>
                  </a:cubicBezTo>
                  <a:lnTo>
                    <a:pt x="7837408" y="2740247"/>
                  </a:lnTo>
                  <a:cubicBezTo>
                    <a:pt x="8006318" y="2740247"/>
                    <a:pt x="8142208" y="2604357"/>
                    <a:pt x="8142208" y="2435447"/>
                  </a:cubicBezTo>
                  <a:lnTo>
                    <a:pt x="8142208" y="304800"/>
                  </a:lnTo>
                  <a:cubicBezTo>
                    <a:pt x="8142208" y="135890"/>
                    <a:pt x="8006318" y="0"/>
                    <a:pt x="7837408" y="0"/>
                  </a:cubicBezTo>
                  <a:close/>
                </a:path>
              </a:pathLst>
            </a:custGeom>
            <a:solidFill>
              <a:srgbClr val="F8F3EE">
                <a:alpha val="88627"/>
              </a:srgbClr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3814693" y="4020487"/>
            <a:ext cx="2551031" cy="30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3"/>
              </a:lnSpc>
            </a:pPr>
            <a:r>
              <a:rPr lang="en-US" b="true" sz="1852" spc="18">
                <a:solidFill>
                  <a:srgbClr val="AA4219"/>
                </a:solidFill>
                <a:latin typeface="Anek Bangla SemiCondensed Medium"/>
                <a:ea typeface="Anek Bangla SemiCondensed Medium"/>
                <a:cs typeface="Anek Bangla SemiCondensed Medium"/>
                <a:sym typeface="Anek Bangla SemiCondensed Medium"/>
              </a:rPr>
              <a:t>FRIDAY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44141" y="5882507"/>
            <a:ext cx="3344532" cy="371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9"/>
              </a:lnSpc>
            </a:pPr>
            <a:r>
              <a:rPr lang="en-US" sz="2242" b="true">
                <a:solidFill>
                  <a:srgbClr val="AA4219"/>
                </a:solidFill>
                <a:latin typeface="Anek Bangla SemiCondensed Medium"/>
                <a:ea typeface="Anek Bangla SemiCondensed Medium"/>
                <a:cs typeface="Anek Bangla SemiCondensed Medium"/>
                <a:sym typeface="Anek Bangla SemiCondensed Medium"/>
              </a:rPr>
              <a:t>ITTE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944141" y="6322878"/>
            <a:ext cx="3228298" cy="411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8"/>
              </a:lnSpc>
            </a:pPr>
            <a:r>
              <a:rPr lang="en-US" sz="2405">
                <a:solidFill>
                  <a:srgbClr val="AA4219"/>
                </a:solidFill>
                <a:latin typeface="Rubik"/>
                <a:ea typeface="Rubik"/>
                <a:cs typeface="Rubik"/>
                <a:sym typeface="Rubik"/>
              </a:rPr>
              <a:t>10:00-21:30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767068" y="4113312"/>
            <a:ext cx="870696" cy="997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59"/>
              </a:lnSpc>
            </a:pPr>
            <a:r>
              <a:rPr lang="en-US" sz="5828">
                <a:solidFill>
                  <a:srgbClr val="000000"/>
                </a:solidFill>
                <a:latin typeface="Barlow Light"/>
                <a:ea typeface="Barlow Light"/>
                <a:cs typeface="Barlow Light"/>
                <a:sym typeface="Barlow Light"/>
              </a:rPr>
              <a:t>04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130712" y="4020487"/>
            <a:ext cx="2551031" cy="30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3"/>
              </a:lnSpc>
            </a:pPr>
            <a:r>
              <a:rPr lang="en-US" b="true" sz="1852" spc="18">
                <a:solidFill>
                  <a:srgbClr val="AA4219"/>
                </a:solidFill>
                <a:latin typeface="Anek Bangla SemiCondensed Medium"/>
                <a:ea typeface="Anek Bangla SemiCondensed Medium"/>
                <a:cs typeface="Anek Bangla SemiCondensed Medium"/>
                <a:sym typeface="Anek Bangla SemiCondensed Medium"/>
              </a:rPr>
              <a:t>SATURDAY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02213" y="4113312"/>
            <a:ext cx="870696" cy="9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2"/>
              </a:lnSpc>
            </a:pPr>
            <a:r>
              <a:rPr lang="en-US" sz="5373">
                <a:solidFill>
                  <a:srgbClr val="000000"/>
                </a:solidFill>
                <a:latin typeface="Barlow Light"/>
                <a:ea typeface="Barlow Light"/>
                <a:cs typeface="Barlow Light"/>
                <a:sym typeface="Barlow Light"/>
              </a:rPr>
              <a:t>05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463455" y="4287762"/>
            <a:ext cx="435238" cy="346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5"/>
              </a:lnSpc>
            </a:pPr>
            <a:r>
              <a:rPr lang="en-US" sz="2039" b="true">
                <a:solidFill>
                  <a:srgbClr val="AA4219"/>
                </a:solidFill>
                <a:latin typeface="Rubik Medium"/>
                <a:ea typeface="Rubik Medium"/>
                <a:cs typeface="Rubik Medium"/>
                <a:sym typeface="Rubik Medium"/>
              </a:rPr>
              <a:t>th</a:t>
            </a:r>
          </a:p>
        </p:txBody>
      </p:sp>
      <p:sp>
        <p:nvSpPr>
          <p:cNvPr name="AutoShape 23" id="23"/>
          <p:cNvSpPr/>
          <p:nvPr/>
        </p:nvSpPr>
        <p:spPr>
          <a:xfrm>
            <a:off x="3624104" y="5699676"/>
            <a:ext cx="0" cy="1197454"/>
          </a:xfrm>
          <a:prstGeom prst="line">
            <a:avLst/>
          </a:prstGeom>
          <a:ln cap="rnd" w="104775">
            <a:solidFill>
              <a:srgbClr val="D0966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5805352" y="4275580"/>
            <a:ext cx="435238" cy="346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5"/>
              </a:lnSpc>
            </a:pPr>
            <a:r>
              <a:rPr lang="en-US" sz="2039" b="true">
                <a:solidFill>
                  <a:srgbClr val="AA4219"/>
                </a:solidFill>
                <a:latin typeface="Rubik Medium"/>
                <a:ea typeface="Rubik Medium"/>
                <a:cs typeface="Rubik Medium"/>
                <a:sym typeface="Rubik Medium"/>
              </a:rPr>
              <a:t>th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814693" y="5059547"/>
            <a:ext cx="2817488" cy="38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3"/>
              </a:lnSpc>
            </a:pPr>
            <a:r>
              <a:rPr lang="en-US" sz="2352" spc="263">
                <a:solidFill>
                  <a:srgbClr val="AA4219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SEPTEMBER, 2026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10077071" cy="10798684"/>
            <a:chOff x="0" y="0"/>
            <a:chExt cx="2654043" cy="28440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54043" cy="2844098"/>
            </a:xfrm>
            <a:custGeom>
              <a:avLst/>
              <a:gdLst/>
              <a:ahLst/>
              <a:cxnLst/>
              <a:rect r="r" b="b" t="t" l="l"/>
              <a:pathLst>
                <a:path h="2844098" w="2654043">
                  <a:moveTo>
                    <a:pt x="36877" y="0"/>
                  </a:moveTo>
                  <a:lnTo>
                    <a:pt x="2617166" y="0"/>
                  </a:lnTo>
                  <a:cubicBezTo>
                    <a:pt x="2637533" y="0"/>
                    <a:pt x="2654043" y="16510"/>
                    <a:pt x="2654043" y="36877"/>
                  </a:cubicBezTo>
                  <a:lnTo>
                    <a:pt x="2654043" y="2807221"/>
                  </a:lnTo>
                  <a:cubicBezTo>
                    <a:pt x="2654043" y="2827587"/>
                    <a:pt x="2637533" y="2844098"/>
                    <a:pt x="2617166" y="2844098"/>
                  </a:cubicBezTo>
                  <a:lnTo>
                    <a:pt x="36877" y="2844098"/>
                  </a:lnTo>
                  <a:cubicBezTo>
                    <a:pt x="16510" y="2844098"/>
                    <a:pt x="0" y="2827587"/>
                    <a:pt x="0" y="2807221"/>
                  </a:cubicBezTo>
                  <a:lnTo>
                    <a:pt x="0" y="36877"/>
                  </a:lnTo>
                  <a:cubicBezTo>
                    <a:pt x="0" y="16510"/>
                    <a:pt x="16510" y="0"/>
                    <a:pt x="36877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654043" cy="2882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551788" y="9363075"/>
            <a:ext cx="4102978" cy="2245448"/>
          </a:xfrm>
          <a:custGeom>
            <a:avLst/>
            <a:gdLst/>
            <a:ahLst/>
            <a:cxnLst/>
            <a:rect r="r" b="b" t="t" l="l"/>
            <a:pathLst>
              <a:path h="2245448" w="410297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-537892"/>
            <a:ext cx="4102978" cy="3133183"/>
          </a:xfrm>
          <a:custGeom>
            <a:avLst/>
            <a:gdLst/>
            <a:ahLst/>
            <a:cxnLst/>
            <a:rect r="r" b="b" t="t" l="l"/>
            <a:pathLst>
              <a:path h="3133183" w="4102978">
                <a:moveTo>
                  <a:pt x="0" y="0"/>
                </a:moveTo>
                <a:lnTo>
                  <a:pt x="4102978" y="0"/>
                </a:lnTo>
                <a:lnTo>
                  <a:pt x="4102978" y="3133184"/>
                </a:lnTo>
                <a:lnTo>
                  <a:pt x="0" y="31331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66363" y="3966029"/>
            <a:ext cx="6726444" cy="927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320"/>
              </a:lnSpc>
            </a:pPr>
            <a:r>
              <a:rPr lang="en-US" b="true" sz="6000" spc="72">
                <a:solidFill>
                  <a:srgbClr val="8CA9AD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BACKGROUND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62533" y="1520173"/>
            <a:ext cx="6726444" cy="927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320"/>
              </a:lnSpc>
            </a:pPr>
            <a:r>
              <a:rPr lang="en-US" b="true" sz="6000" spc="72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OBJECTIVES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80638" y="5253935"/>
            <a:ext cx="6726444" cy="3020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99"/>
              </a:lnSpc>
            </a:pPr>
            <a:r>
              <a:rPr lang="en-US" sz="3278" spc="39">
                <a:solidFill>
                  <a:srgbClr val="737373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The International Tourism Fair 2026 is a landmark initiative jointly organized by Nagorik Protidin and Bloodman, aimed at positioning Bangladesh as a global tourism hub and an international connecting platform.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11843" y="2877215"/>
            <a:ext cx="7377134" cy="4039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001"/>
              </a:lnSpc>
            </a:pPr>
            <a:r>
              <a:rPr lang="en-US" sz="3279" spc="39">
                <a:solidFill>
                  <a:srgbClr val="FFFFFF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This fair will be a combined gathering of tourism, culture, and</a:t>
            </a:r>
            <a:r>
              <a:rPr lang="en-US" sz="3279" spc="39">
                <a:solidFill>
                  <a:srgbClr val="FFFFFF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 youth, featuring cultural participation of international students residing in Bangladesh, live cultural performances from different countries, and fashion shows.</a:t>
            </a:r>
          </a:p>
          <a:p>
            <a:pPr algn="r">
              <a:lnSpc>
                <a:spcPts val="4001"/>
              </a:lnSpc>
            </a:pPr>
            <a:r>
              <a:rPr lang="en-US" sz="3279" spc="39">
                <a:solidFill>
                  <a:srgbClr val="FFFFFF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To present Bangladesh as an international tourism hub.</a:t>
            </a:r>
          </a:p>
          <a:p>
            <a:pPr algn="r">
              <a:lnSpc>
                <a:spcPts val="4001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36366" y="5642936"/>
            <a:ext cx="18724366" cy="4954728"/>
            <a:chOff x="0" y="0"/>
            <a:chExt cx="4931520" cy="13049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31520" cy="1304949"/>
            </a:xfrm>
            <a:custGeom>
              <a:avLst/>
              <a:gdLst/>
              <a:ahLst/>
              <a:cxnLst/>
              <a:rect r="r" b="b" t="t" l="l"/>
              <a:pathLst>
                <a:path h="1304949" w="4931520">
                  <a:moveTo>
                    <a:pt x="19846" y="0"/>
                  </a:moveTo>
                  <a:lnTo>
                    <a:pt x="4911674" y="0"/>
                  </a:lnTo>
                  <a:cubicBezTo>
                    <a:pt x="4916937" y="0"/>
                    <a:pt x="4921986" y="2091"/>
                    <a:pt x="4925707" y="5813"/>
                  </a:cubicBezTo>
                  <a:cubicBezTo>
                    <a:pt x="4929429" y="9535"/>
                    <a:pt x="4931520" y="14583"/>
                    <a:pt x="4931520" y="19846"/>
                  </a:cubicBezTo>
                  <a:lnTo>
                    <a:pt x="4931520" y="1285102"/>
                  </a:lnTo>
                  <a:cubicBezTo>
                    <a:pt x="4931520" y="1290366"/>
                    <a:pt x="4929429" y="1295414"/>
                    <a:pt x="4925707" y="1299136"/>
                  </a:cubicBezTo>
                  <a:cubicBezTo>
                    <a:pt x="4921986" y="1302858"/>
                    <a:pt x="4916937" y="1304949"/>
                    <a:pt x="4911674" y="1304949"/>
                  </a:cubicBezTo>
                  <a:lnTo>
                    <a:pt x="19846" y="1304949"/>
                  </a:lnTo>
                  <a:cubicBezTo>
                    <a:pt x="14583" y="1304949"/>
                    <a:pt x="9535" y="1302858"/>
                    <a:pt x="5813" y="1299136"/>
                  </a:cubicBezTo>
                  <a:cubicBezTo>
                    <a:pt x="2091" y="1295414"/>
                    <a:pt x="0" y="1290366"/>
                    <a:pt x="0" y="1285102"/>
                  </a:cubicBezTo>
                  <a:lnTo>
                    <a:pt x="0" y="19846"/>
                  </a:lnTo>
                  <a:cubicBezTo>
                    <a:pt x="0" y="14583"/>
                    <a:pt x="2091" y="9535"/>
                    <a:pt x="5813" y="5813"/>
                  </a:cubicBezTo>
                  <a:cubicBezTo>
                    <a:pt x="9535" y="2091"/>
                    <a:pt x="14583" y="0"/>
                    <a:pt x="19846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31520" cy="1343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13517501" y="7297110"/>
            <a:ext cx="4102978" cy="3133183"/>
          </a:xfrm>
          <a:custGeom>
            <a:avLst/>
            <a:gdLst/>
            <a:ahLst/>
            <a:cxnLst/>
            <a:rect r="r" b="b" t="t" l="l"/>
            <a:pathLst>
              <a:path h="3133183" w="4102978">
                <a:moveTo>
                  <a:pt x="0" y="0"/>
                </a:moveTo>
                <a:lnTo>
                  <a:pt x="4102978" y="0"/>
                </a:lnTo>
                <a:lnTo>
                  <a:pt x="4102978" y="3133183"/>
                </a:lnTo>
                <a:lnTo>
                  <a:pt x="0" y="31331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870504" y="-773140"/>
            <a:ext cx="4102978" cy="2245448"/>
          </a:xfrm>
          <a:custGeom>
            <a:avLst/>
            <a:gdLst/>
            <a:ahLst/>
            <a:cxnLst/>
            <a:rect r="r" b="b" t="t" l="l"/>
            <a:pathLst>
              <a:path h="2245448" w="410297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455656" y="3186144"/>
            <a:ext cx="3558147" cy="1194533"/>
            <a:chOff x="0" y="0"/>
            <a:chExt cx="1215951" cy="40821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15951" cy="408217"/>
            </a:xfrm>
            <a:custGeom>
              <a:avLst/>
              <a:gdLst/>
              <a:ahLst/>
              <a:cxnLst/>
              <a:rect r="r" b="b" t="t" l="l"/>
              <a:pathLst>
                <a:path h="408217" w="1215951">
                  <a:moveTo>
                    <a:pt x="52220" y="0"/>
                  </a:moveTo>
                  <a:lnTo>
                    <a:pt x="1163732" y="0"/>
                  </a:lnTo>
                  <a:cubicBezTo>
                    <a:pt x="1192572" y="0"/>
                    <a:pt x="1215951" y="23380"/>
                    <a:pt x="1215951" y="52220"/>
                  </a:cubicBezTo>
                  <a:lnTo>
                    <a:pt x="1215951" y="355997"/>
                  </a:lnTo>
                  <a:cubicBezTo>
                    <a:pt x="1215951" y="384837"/>
                    <a:pt x="1192572" y="408217"/>
                    <a:pt x="1163732" y="408217"/>
                  </a:cubicBezTo>
                  <a:lnTo>
                    <a:pt x="52220" y="408217"/>
                  </a:lnTo>
                  <a:cubicBezTo>
                    <a:pt x="23380" y="408217"/>
                    <a:pt x="0" y="384837"/>
                    <a:pt x="0" y="355997"/>
                  </a:cubicBezTo>
                  <a:lnTo>
                    <a:pt x="0" y="52220"/>
                  </a:lnTo>
                  <a:cubicBezTo>
                    <a:pt x="0" y="23380"/>
                    <a:pt x="23380" y="0"/>
                    <a:pt x="52220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215951" cy="446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5400000">
            <a:off x="6625397" y="2438001"/>
            <a:ext cx="1218665" cy="3558147"/>
          </a:xfrm>
          <a:custGeom>
            <a:avLst/>
            <a:gdLst/>
            <a:ahLst/>
            <a:cxnLst/>
            <a:rect r="r" b="b" t="t" l="l"/>
            <a:pathLst>
              <a:path h="3558147" w="1218665">
                <a:moveTo>
                  <a:pt x="0" y="0"/>
                </a:moveTo>
                <a:lnTo>
                  <a:pt x="1218665" y="0"/>
                </a:lnTo>
                <a:lnTo>
                  <a:pt x="1218665" y="3558146"/>
                </a:lnTo>
                <a:lnTo>
                  <a:pt x="0" y="35581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5455656" y="4170573"/>
            <a:ext cx="3558147" cy="3059862"/>
            <a:chOff x="0" y="0"/>
            <a:chExt cx="1215951" cy="10456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15951" cy="1045669"/>
            </a:xfrm>
            <a:custGeom>
              <a:avLst/>
              <a:gdLst/>
              <a:ahLst/>
              <a:cxnLst/>
              <a:rect r="r" b="b" t="t" l="l"/>
              <a:pathLst>
                <a:path h="1045669" w="1215951">
                  <a:moveTo>
                    <a:pt x="52220" y="0"/>
                  </a:moveTo>
                  <a:lnTo>
                    <a:pt x="1163732" y="0"/>
                  </a:lnTo>
                  <a:cubicBezTo>
                    <a:pt x="1192572" y="0"/>
                    <a:pt x="1215951" y="23380"/>
                    <a:pt x="1215951" y="52220"/>
                  </a:cubicBezTo>
                  <a:lnTo>
                    <a:pt x="1215951" y="993449"/>
                  </a:lnTo>
                  <a:cubicBezTo>
                    <a:pt x="1215951" y="1022289"/>
                    <a:pt x="1192572" y="1045669"/>
                    <a:pt x="1163732" y="1045669"/>
                  </a:cubicBezTo>
                  <a:lnTo>
                    <a:pt x="52220" y="1045669"/>
                  </a:lnTo>
                  <a:cubicBezTo>
                    <a:pt x="23380" y="1045669"/>
                    <a:pt x="0" y="1022289"/>
                    <a:pt x="0" y="993449"/>
                  </a:cubicBezTo>
                  <a:lnTo>
                    <a:pt x="0" y="52220"/>
                  </a:lnTo>
                  <a:cubicBezTo>
                    <a:pt x="0" y="23380"/>
                    <a:pt x="23380" y="0"/>
                    <a:pt x="5222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8CA9AD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15951" cy="1083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695241" y="4534912"/>
            <a:ext cx="3078978" cy="2397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477">
                <a:solidFill>
                  <a:srgbClr val="333333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To</a:t>
            </a:r>
            <a:r>
              <a:rPr lang="en-US" sz="2477">
                <a:solidFill>
                  <a:srgbClr val="333333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 strengthen partnerships and commercial connections among different countries’ embassies, tourism boards, and international tourism brands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37045" y="3485950"/>
            <a:ext cx="2795370" cy="470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7"/>
              </a:lnSpc>
            </a:pPr>
            <a:r>
              <a:rPr lang="en-US" b="true" sz="3054">
                <a:solidFill>
                  <a:srgbClr val="FFFFFF"/>
                </a:solidFill>
                <a:latin typeface="Anek Bangla SemiCondensed Semi-Bold"/>
                <a:ea typeface="Anek Bangla SemiCondensed Semi-Bold"/>
                <a:cs typeface="Anek Bangla SemiCondensed Semi-Bold"/>
                <a:sym typeface="Anek Bangla SemiCondensed Semi-Bold"/>
              </a:rPr>
              <a:t>Center of Trade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59117" y="4940372"/>
            <a:ext cx="5500090" cy="1586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006"/>
              </a:lnSpc>
            </a:pPr>
            <a:r>
              <a:rPr lang="en-US" b="true" sz="6600">
                <a:solidFill>
                  <a:srgbClr val="123D33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KEY</a:t>
            </a:r>
          </a:p>
          <a:p>
            <a:pPr algn="r">
              <a:lnSpc>
                <a:spcPts val="6006"/>
              </a:lnSpc>
            </a:pPr>
            <a:r>
              <a:rPr lang="en-US" b="true" sz="6600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OBJECTIVES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99755" y="3186144"/>
            <a:ext cx="3558147" cy="1194533"/>
            <a:chOff x="0" y="0"/>
            <a:chExt cx="1215951" cy="40821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15951" cy="408217"/>
            </a:xfrm>
            <a:custGeom>
              <a:avLst/>
              <a:gdLst/>
              <a:ahLst/>
              <a:cxnLst/>
              <a:rect r="r" b="b" t="t" l="l"/>
              <a:pathLst>
                <a:path h="408217" w="1215951">
                  <a:moveTo>
                    <a:pt x="52220" y="0"/>
                  </a:moveTo>
                  <a:lnTo>
                    <a:pt x="1163732" y="0"/>
                  </a:lnTo>
                  <a:cubicBezTo>
                    <a:pt x="1192572" y="0"/>
                    <a:pt x="1215951" y="23380"/>
                    <a:pt x="1215951" y="52220"/>
                  </a:cubicBezTo>
                  <a:lnTo>
                    <a:pt x="1215951" y="355997"/>
                  </a:lnTo>
                  <a:cubicBezTo>
                    <a:pt x="1215951" y="384837"/>
                    <a:pt x="1192572" y="408217"/>
                    <a:pt x="1163732" y="408217"/>
                  </a:cubicBezTo>
                  <a:lnTo>
                    <a:pt x="52220" y="408217"/>
                  </a:lnTo>
                  <a:cubicBezTo>
                    <a:pt x="23380" y="408217"/>
                    <a:pt x="0" y="384837"/>
                    <a:pt x="0" y="355997"/>
                  </a:cubicBezTo>
                  <a:lnTo>
                    <a:pt x="0" y="52220"/>
                  </a:lnTo>
                  <a:cubicBezTo>
                    <a:pt x="0" y="23380"/>
                    <a:pt x="23380" y="0"/>
                    <a:pt x="52220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15951" cy="446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5400000">
            <a:off x="2169495" y="2438001"/>
            <a:ext cx="1218665" cy="3558147"/>
          </a:xfrm>
          <a:custGeom>
            <a:avLst/>
            <a:gdLst/>
            <a:ahLst/>
            <a:cxnLst/>
            <a:rect r="r" b="b" t="t" l="l"/>
            <a:pathLst>
              <a:path h="3558147" w="1218665">
                <a:moveTo>
                  <a:pt x="0" y="0"/>
                </a:moveTo>
                <a:lnTo>
                  <a:pt x="1218666" y="0"/>
                </a:lnTo>
                <a:lnTo>
                  <a:pt x="1218666" y="3558146"/>
                </a:lnTo>
                <a:lnTo>
                  <a:pt x="0" y="35581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999755" y="4170573"/>
            <a:ext cx="3558147" cy="3059862"/>
            <a:chOff x="0" y="0"/>
            <a:chExt cx="1215951" cy="104566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15951" cy="1045669"/>
            </a:xfrm>
            <a:custGeom>
              <a:avLst/>
              <a:gdLst/>
              <a:ahLst/>
              <a:cxnLst/>
              <a:rect r="r" b="b" t="t" l="l"/>
              <a:pathLst>
                <a:path h="1045669" w="1215951">
                  <a:moveTo>
                    <a:pt x="52220" y="0"/>
                  </a:moveTo>
                  <a:lnTo>
                    <a:pt x="1163732" y="0"/>
                  </a:lnTo>
                  <a:cubicBezTo>
                    <a:pt x="1192572" y="0"/>
                    <a:pt x="1215951" y="23380"/>
                    <a:pt x="1215951" y="52220"/>
                  </a:cubicBezTo>
                  <a:lnTo>
                    <a:pt x="1215951" y="993449"/>
                  </a:lnTo>
                  <a:cubicBezTo>
                    <a:pt x="1215951" y="1022289"/>
                    <a:pt x="1192572" y="1045669"/>
                    <a:pt x="1163732" y="1045669"/>
                  </a:cubicBezTo>
                  <a:lnTo>
                    <a:pt x="52220" y="1045669"/>
                  </a:lnTo>
                  <a:cubicBezTo>
                    <a:pt x="23380" y="1045669"/>
                    <a:pt x="0" y="1022289"/>
                    <a:pt x="0" y="993449"/>
                  </a:cubicBezTo>
                  <a:lnTo>
                    <a:pt x="0" y="52220"/>
                  </a:lnTo>
                  <a:cubicBezTo>
                    <a:pt x="0" y="23380"/>
                    <a:pt x="23380" y="0"/>
                    <a:pt x="5222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8CA9AD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215951" cy="1083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190449" y="5114925"/>
            <a:ext cx="3131733" cy="797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477">
                <a:solidFill>
                  <a:srgbClr val="333333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To present</a:t>
            </a:r>
            <a:r>
              <a:rPr lang="en-US" sz="2477">
                <a:solidFill>
                  <a:srgbClr val="333333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 Bangladesh as an international tourism hub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78928" y="3496125"/>
            <a:ext cx="3361700" cy="397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1"/>
              </a:lnSpc>
            </a:pPr>
            <a:r>
              <a:rPr lang="en-US" b="true" sz="3054">
                <a:solidFill>
                  <a:srgbClr val="FFFFFF"/>
                </a:solidFill>
                <a:latin typeface="Anek Bangla SemiCondensed Semi-Bold"/>
                <a:ea typeface="Anek Bangla SemiCondensed Semi-Bold"/>
                <a:cs typeface="Anek Bangla SemiCondensed Semi-Bold"/>
                <a:sym typeface="Anek Bangla SemiCondensed Semi-Bold"/>
              </a:rPr>
              <a:t>Tourism Hub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911558" y="3128577"/>
            <a:ext cx="3558147" cy="1194533"/>
            <a:chOff x="0" y="0"/>
            <a:chExt cx="1215951" cy="40821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15951" cy="408217"/>
            </a:xfrm>
            <a:custGeom>
              <a:avLst/>
              <a:gdLst/>
              <a:ahLst/>
              <a:cxnLst/>
              <a:rect r="r" b="b" t="t" l="l"/>
              <a:pathLst>
                <a:path h="408217" w="1215951">
                  <a:moveTo>
                    <a:pt x="52220" y="0"/>
                  </a:moveTo>
                  <a:lnTo>
                    <a:pt x="1163732" y="0"/>
                  </a:lnTo>
                  <a:cubicBezTo>
                    <a:pt x="1192572" y="0"/>
                    <a:pt x="1215951" y="23380"/>
                    <a:pt x="1215951" y="52220"/>
                  </a:cubicBezTo>
                  <a:lnTo>
                    <a:pt x="1215951" y="355997"/>
                  </a:lnTo>
                  <a:cubicBezTo>
                    <a:pt x="1215951" y="384837"/>
                    <a:pt x="1192572" y="408217"/>
                    <a:pt x="1163732" y="408217"/>
                  </a:cubicBezTo>
                  <a:lnTo>
                    <a:pt x="52220" y="408217"/>
                  </a:lnTo>
                  <a:cubicBezTo>
                    <a:pt x="23380" y="408217"/>
                    <a:pt x="0" y="384837"/>
                    <a:pt x="0" y="355997"/>
                  </a:cubicBezTo>
                  <a:lnTo>
                    <a:pt x="0" y="52220"/>
                  </a:lnTo>
                  <a:cubicBezTo>
                    <a:pt x="0" y="23380"/>
                    <a:pt x="23380" y="0"/>
                    <a:pt x="52220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215951" cy="446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5400000">
            <a:off x="11081299" y="2380433"/>
            <a:ext cx="1218665" cy="3558147"/>
          </a:xfrm>
          <a:custGeom>
            <a:avLst/>
            <a:gdLst/>
            <a:ahLst/>
            <a:cxnLst/>
            <a:rect r="r" b="b" t="t" l="l"/>
            <a:pathLst>
              <a:path h="3558147" w="1218665">
                <a:moveTo>
                  <a:pt x="0" y="0"/>
                </a:moveTo>
                <a:lnTo>
                  <a:pt x="1218665" y="0"/>
                </a:lnTo>
                <a:lnTo>
                  <a:pt x="1218665" y="3558147"/>
                </a:lnTo>
                <a:lnTo>
                  <a:pt x="0" y="35581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9911558" y="4113005"/>
            <a:ext cx="3558147" cy="3059862"/>
            <a:chOff x="0" y="0"/>
            <a:chExt cx="1215951" cy="104566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15951" cy="1045669"/>
            </a:xfrm>
            <a:custGeom>
              <a:avLst/>
              <a:gdLst/>
              <a:ahLst/>
              <a:cxnLst/>
              <a:rect r="r" b="b" t="t" l="l"/>
              <a:pathLst>
                <a:path h="1045669" w="1215951">
                  <a:moveTo>
                    <a:pt x="52220" y="0"/>
                  </a:moveTo>
                  <a:lnTo>
                    <a:pt x="1163732" y="0"/>
                  </a:lnTo>
                  <a:cubicBezTo>
                    <a:pt x="1192572" y="0"/>
                    <a:pt x="1215951" y="23380"/>
                    <a:pt x="1215951" y="52220"/>
                  </a:cubicBezTo>
                  <a:lnTo>
                    <a:pt x="1215951" y="993449"/>
                  </a:lnTo>
                  <a:cubicBezTo>
                    <a:pt x="1215951" y="1022289"/>
                    <a:pt x="1192572" y="1045669"/>
                    <a:pt x="1163732" y="1045669"/>
                  </a:cubicBezTo>
                  <a:lnTo>
                    <a:pt x="52220" y="1045669"/>
                  </a:lnTo>
                  <a:cubicBezTo>
                    <a:pt x="23380" y="1045669"/>
                    <a:pt x="0" y="1022289"/>
                    <a:pt x="0" y="993449"/>
                  </a:cubicBezTo>
                  <a:lnTo>
                    <a:pt x="0" y="52220"/>
                  </a:lnTo>
                  <a:cubicBezTo>
                    <a:pt x="0" y="23380"/>
                    <a:pt x="23380" y="0"/>
                    <a:pt x="5222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8CA9AD"/>
              </a:solidFill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215951" cy="1083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0187440" y="4829937"/>
            <a:ext cx="3024656" cy="159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477">
                <a:solidFill>
                  <a:srgbClr val="333333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To</a:t>
            </a:r>
            <a:r>
              <a:rPr lang="en-US" sz="2477">
                <a:solidFill>
                  <a:srgbClr val="333333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 engage international students and connect them with the tourism and culture of Bangladesh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302083" y="3415856"/>
            <a:ext cx="2795370" cy="421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7"/>
              </a:lnSpc>
            </a:pPr>
            <a:r>
              <a:rPr lang="en-US" b="true" sz="3054">
                <a:solidFill>
                  <a:srgbClr val="FFFFFF"/>
                </a:solidFill>
                <a:latin typeface="Anek Bangla SemiCondensed Semi-Bold"/>
                <a:ea typeface="Anek Bangla SemiCondensed Semi-Bold"/>
                <a:cs typeface="Anek Bangla SemiCondensed Semi-Bold"/>
                <a:sym typeface="Anek Bangla SemiCondensed Semi-Bold"/>
              </a:rPr>
              <a:t>Cultural Diplomacy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4355845" y="8514587"/>
            <a:ext cx="3264634" cy="2492994"/>
          </a:xfrm>
          <a:custGeom>
            <a:avLst/>
            <a:gdLst/>
            <a:ahLst/>
            <a:cxnLst/>
            <a:rect r="r" b="b" t="t" l="l"/>
            <a:pathLst>
              <a:path h="2492994" w="3264634">
                <a:moveTo>
                  <a:pt x="0" y="0"/>
                </a:moveTo>
                <a:lnTo>
                  <a:pt x="3264634" y="0"/>
                </a:lnTo>
                <a:lnTo>
                  <a:pt x="3264634" y="2492994"/>
                </a:lnTo>
                <a:lnTo>
                  <a:pt x="0" y="24929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5400000">
            <a:off x="4441943" y="-10304616"/>
            <a:ext cx="10866617" cy="19750503"/>
            <a:chOff x="0" y="0"/>
            <a:chExt cx="2861990" cy="520177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61990" cy="5201779"/>
            </a:xfrm>
            <a:custGeom>
              <a:avLst/>
              <a:gdLst/>
              <a:ahLst/>
              <a:cxnLst/>
              <a:rect r="r" b="b" t="t" l="l"/>
              <a:pathLst>
                <a:path h="5201779" w="2861990">
                  <a:moveTo>
                    <a:pt x="34198" y="0"/>
                  </a:moveTo>
                  <a:lnTo>
                    <a:pt x="2827792" y="0"/>
                  </a:lnTo>
                  <a:cubicBezTo>
                    <a:pt x="2846679" y="0"/>
                    <a:pt x="2861990" y="15311"/>
                    <a:pt x="2861990" y="34198"/>
                  </a:cubicBezTo>
                  <a:lnTo>
                    <a:pt x="2861990" y="5167581"/>
                  </a:lnTo>
                  <a:cubicBezTo>
                    <a:pt x="2861990" y="5176651"/>
                    <a:pt x="2858387" y="5185349"/>
                    <a:pt x="2851974" y="5191763"/>
                  </a:cubicBezTo>
                  <a:cubicBezTo>
                    <a:pt x="2845560" y="5198176"/>
                    <a:pt x="2836862" y="5201779"/>
                    <a:pt x="2827792" y="5201779"/>
                  </a:cubicBezTo>
                  <a:lnTo>
                    <a:pt x="34198" y="5201779"/>
                  </a:lnTo>
                  <a:cubicBezTo>
                    <a:pt x="25128" y="5201779"/>
                    <a:pt x="16430" y="5198176"/>
                    <a:pt x="10016" y="5191763"/>
                  </a:cubicBezTo>
                  <a:cubicBezTo>
                    <a:pt x="3603" y="5185349"/>
                    <a:pt x="0" y="5176651"/>
                    <a:pt x="0" y="5167581"/>
                  </a:cubicBezTo>
                  <a:lnTo>
                    <a:pt x="0" y="34198"/>
                  </a:lnTo>
                  <a:cubicBezTo>
                    <a:pt x="0" y="25128"/>
                    <a:pt x="3603" y="16430"/>
                    <a:pt x="10016" y="10016"/>
                  </a:cubicBezTo>
                  <a:cubicBezTo>
                    <a:pt x="16430" y="3603"/>
                    <a:pt x="25128" y="0"/>
                    <a:pt x="34198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61990" cy="5239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517501" y="-1506118"/>
            <a:ext cx="4102978" cy="2245448"/>
          </a:xfrm>
          <a:custGeom>
            <a:avLst/>
            <a:gdLst/>
            <a:ahLst/>
            <a:cxnLst/>
            <a:rect r="r" b="b" t="t" l="l"/>
            <a:pathLst>
              <a:path h="2245448" w="410297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962811" y="1426489"/>
            <a:ext cx="761358" cy="976100"/>
          </a:xfrm>
          <a:custGeom>
            <a:avLst/>
            <a:gdLst/>
            <a:ahLst/>
            <a:cxnLst/>
            <a:rect r="r" b="b" t="t" l="l"/>
            <a:pathLst>
              <a:path h="976100" w="761358">
                <a:moveTo>
                  <a:pt x="0" y="0"/>
                </a:moveTo>
                <a:lnTo>
                  <a:pt x="761359" y="0"/>
                </a:lnTo>
                <a:lnTo>
                  <a:pt x="761359" y="976100"/>
                </a:lnTo>
                <a:lnTo>
                  <a:pt x="0" y="9761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496678" y="1492117"/>
            <a:ext cx="849015" cy="910472"/>
          </a:xfrm>
          <a:custGeom>
            <a:avLst/>
            <a:gdLst/>
            <a:ahLst/>
            <a:cxnLst/>
            <a:rect r="r" b="b" t="t" l="l"/>
            <a:pathLst>
              <a:path h="910472" w="849015">
                <a:moveTo>
                  <a:pt x="0" y="0"/>
                </a:moveTo>
                <a:lnTo>
                  <a:pt x="849015" y="0"/>
                </a:lnTo>
                <a:lnTo>
                  <a:pt x="849015" y="910472"/>
                </a:lnTo>
                <a:lnTo>
                  <a:pt x="0" y="9104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745817" y="1520470"/>
            <a:ext cx="1718507" cy="902216"/>
          </a:xfrm>
          <a:custGeom>
            <a:avLst/>
            <a:gdLst/>
            <a:ahLst/>
            <a:cxnLst/>
            <a:rect r="r" b="b" t="t" l="l"/>
            <a:pathLst>
              <a:path h="902216" w="1718507">
                <a:moveTo>
                  <a:pt x="0" y="0"/>
                </a:moveTo>
                <a:lnTo>
                  <a:pt x="1718507" y="0"/>
                </a:lnTo>
                <a:lnTo>
                  <a:pt x="1718507" y="902216"/>
                </a:lnTo>
                <a:lnTo>
                  <a:pt x="0" y="90221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638513" y="1617035"/>
            <a:ext cx="885614" cy="805651"/>
          </a:xfrm>
          <a:custGeom>
            <a:avLst/>
            <a:gdLst/>
            <a:ahLst/>
            <a:cxnLst/>
            <a:rect r="r" b="b" t="t" l="l"/>
            <a:pathLst>
              <a:path h="805651" w="885614">
                <a:moveTo>
                  <a:pt x="0" y="0"/>
                </a:moveTo>
                <a:lnTo>
                  <a:pt x="885614" y="0"/>
                </a:lnTo>
                <a:lnTo>
                  <a:pt x="885614" y="805651"/>
                </a:lnTo>
                <a:lnTo>
                  <a:pt x="0" y="80565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-7864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805444" y="5431225"/>
            <a:ext cx="1081983" cy="619435"/>
          </a:xfrm>
          <a:custGeom>
            <a:avLst/>
            <a:gdLst/>
            <a:ahLst/>
            <a:cxnLst/>
            <a:rect r="r" b="b" t="t" l="l"/>
            <a:pathLst>
              <a:path h="619435" w="1081983">
                <a:moveTo>
                  <a:pt x="0" y="0"/>
                </a:moveTo>
                <a:lnTo>
                  <a:pt x="1081982" y="0"/>
                </a:lnTo>
                <a:lnTo>
                  <a:pt x="1081982" y="619435"/>
                </a:lnTo>
                <a:lnTo>
                  <a:pt x="0" y="6194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430003" y="5318269"/>
            <a:ext cx="791584" cy="879538"/>
          </a:xfrm>
          <a:custGeom>
            <a:avLst/>
            <a:gdLst/>
            <a:ahLst/>
            <a:cxnLst/>
            <a:rect r="r" b="b" t="t" l="l"/>
            <a:pathLst>
              <a:path h="879538" w="791584">
                <a:moveTo>
                  <a:pt x="0" y="0"/>
                </a:moveTo>
                <a:lnTo>
                  <a:pt x="791584" y="0"/>
                </a:lnTo>
                <a:lnTo>
                  <a:pt x="791584" y="879538"/>
                </a:lnTo>
                <a:lnTo>
                  <a:pt x="0" y="87953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857641" y="5431225"/>
            <a:ext cx="1009084" cy="819460"/>
          </a:xfrm>
          <a:custGeom>
            <a:avLst/>
            <a:gdLst/>
            <a:ahLst/>
            <a:cxnLst/>
            <a:rect r="r" b="b" t="t" l="l"/>
            <a:pathLst>
              <a:path h="819460" w="1009084">
                <a:moveTo>
                  <a:pt x="0" y="0"/>
                </a:moveTo>
                <a:lnTo>
                  <a:pt x="1009084" y="0"/>
                </a:lnTo>
                <a:lnTo>
                  <a:pt x="1009084" y="819460"/>
                </a:lnTo>
                <a:lnTo>
                  <a:pt x="0" y="81946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205806" y="5534172"/>
            <a:ext cx="1311695" cy="716514"/>
          </a:xfrm>
          <a:custGeom>
            <a:avLst/>
            <a:gdLst/>
            <a:ahLst/>
            <a:cxnLst/>
            <a:rect r="r" b="b" t="t" l="l"/>
            <a:pathLst>
              <a:path h="716514" w="1311695">
                <a:moveTo>
                  <a:pt x="0" y="0"/>
                </a:moveTo>
                <a:lnTo>
                  <a:pt x="1311695" y="0"/>
                </a:lnTo>
                <a:lnTo>
                  <a:pt x="1311695" y="716513"/>
                </a:lnTo>
                <a:lnTo>
                  <a:pt x="0" y="71651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4788004" y="4593646"/>
            <a:ext cx="3162984" cy="911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53"/>
              </a:lnSpc>
            </a:pPr>
            <a:r>
              <a:rPr lang="en-US" b="true" sz="3795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PARTICIPANTS</a:t>
            </a:r>
          </a:p>
          <a:p>
            <a:pPr algn="r">
              <a:lnSpc>
                <a:spcPts val="3453"/>
              </a:lnSpc>
            </a:pPr>
            <a:r>
              <a:rPr lang="en-US" b="true" sz="3795">
                <a:solidFill>
                  <a:srgbClr val="5B777B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DETAIL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8658" y="2593089"/>
            <a:ext cx="3295274" cy="1848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9"/>
              </a:lnSpc>
            </a:pPr>
            <a:r>
              <a:rPr lang="en-US" b="true" sz="3109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Corporate Booth</a:t>
            </a:r>
          </a:p>
          <a:p>
            <a:pPr algn="ctr">
              <a:lnSpc>
                <a:spcPts val="2374"/>
              </a:lnSpc>
            </a:pPr>
          </a:p>
          <a:p>
            <a:pPr algn="ctr">
              <a:lnSpc>
                <a:spcPts val="2374"/>
              </a:lnSpc>
            </a:pPr>
            <a:r>
              <a:rPr lang="en-US" sz="2609">
                <a:solidFill>
                  <a:srgbClr val="FFFFFF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A dedicated space for brands to showcase offerings and build strategic business connections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301982" y="2612139"/>
            <a:ext cx="3449389" cy="2202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9"/>
              </a:lnSpc>
            </a:pPr>
            <a:r>
              <a:rPr lang="en-US" sz="3109" b="true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International Pavillion</a:t>
            </a:r>
          </a:p>
          <a:p>
            <a:pPr algn="ctr">
              <a:lnSpc>
                <a:spcPts val="2465"/>
              </a:lnSpc>
            </a:pPr>
          </a:p>
          <a:p>
            <a:pPr algn="ctr">
              <a:lnSpc>
                <a:spcPts val="2465"/>
              </a:lnSpc>
            </a:pPr>
            <a:r>
              <a:rPr lang="en-US" sz="2709">
                <a:solidFill>
                  <a:srgbClr val="FFFFFF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A dedicated zone featuring different embassies showcasing their country’s tourism, culture, and opportunities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957433" y="2612139"/>
            <a:ext cx="3295274" cy="1897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9"/>
              </a:lnSpc>
            </a:pPr>
            <a:r>
              <a:rPr lang="en-US" b="true" sz="3109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Selfie Booth</a:t>
            </a:r>
          </a:p>
          <a:p>
            <a:pPr algn="ctr">
              <a:lnSpc>
                <a:spcPts val="2465"/>
              </a:lnSpc>
            </a:pPr>
          </a:p>
          <a:p>
            <a:pPr algn="ctr">
              <a:lnSpc>
                <a:spcPts val="2465"/>
              </a:lnSpc>
            </a:pPr>
            <a:r>
              <a:rPr lang="en-US" sz="2709">
                <a:solidFill>
                  <a:srgbClr val="FFFFFF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A creative setup for visitors to capture and instantly share memorable moments.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43208" y="2659764"/>
            <a:ext cx="3295274" cy="1592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9"/>
              </a:lnSpc>
            </a:pPr>
            <a:r>
              <a:rPr lang="en-US" b="true" sz="3109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Medical Corner</a:t>
            </a:r>
          </a:p>
          <a:p>
            <a:pPr algn="ctr">
              <a:lnSpc>
                <a:spcPts val="2465"/>
              </a:lnSpc>
            </a:pPr>
          </a:p>
          <a:p>
            <a:pPr algn="ctr">
              <a:lnSpc>
                <a:spcPts val="2465"/>
              </a:lnSpc>
            </a:pPr>
            <a:r>
              <a:rPr lang="en-US" sz="2709">
                <a:solidFill>
                  <a:srgbClr val="FFFFFF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A support zone offering basic health check-ups and emergency assistance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28658" y="6241160"/>
            <a:ext cx="3295274" cy="1592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9"/>
              </a:lnSpc>
            </a:pPr>
            <a:r>
              <a:rPr lang="en-US" sz="3109" b="true">
                <a:solidFill>
                  <a:srgbClr val="106861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Foreign Pavilion</a:t>
            </a:r>
          </a:p>
          <a:p>
            <a:pPr algn="ctr">
              <a:lnSpc>
                <a:spcPts val="2465"/>
              </a:lnSpc>
            </a:pPr>
          </a:p>
          <a:p>
            <a:pPr algn="ctr">
              <a:lnSpc>
                <a:spcPts val="2465"/>
              </a:lnSpc>
            </a:pPr>
            <a:r>
              <a:rPr lang="en-US" sz="2709">
                <a:solidFill>
                  <a:srgbClr val="106861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Country-themed booths presenting global culture, tourism, and heritage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178157" y="6269735"/>
            <a:ext cx="3295274" cy="1926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9"/>
              </a:lnSpc>
            </a:pPr>
            <a:r>
              <a:rPr lang="en-US" sz="3109" b="true">
                <a:solidFill>
                  <a:srgbClr val="106861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VR Experience Zone</a:t>
            </a:r>
          </a:p>
          <a:p>
            <a:pPr algn="ctr">
              <a:lnSpc>
                <a:spcPts val="2647"/>
              </a:lnSpc>
            </a:pPr>
          </a:p>
          <a:p>
            <a:pPr algn="ctr">
              <a:lnSpc>
                <a:spcPts val="2465"/>
              </a:lnSpc>
            </a:pPr>
            <a:r>
              <a:rPr lang="en-US" sz="2709">
                <a:solidFill>
                  <a:srgbClr val="106861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An immersive virtual space to explore international destinations through advanced technology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762171" y="6345935"/>
            <a:ext cx="3295274" cy="1592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9"/>
              </a:lnSpc>
            </a:pPr>
            <a:r>
              <a:rPr lang="en-US" sz="3109" b="true">
                <a:solidFill>
                  <a:srgbClr val="106861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Food Pavilion</a:t>
            </a:r>
          </a:p>
          <a:p>
            <a:pPr algn="ctr">
              <a:lnSpc>
                <a:spcPts val="2465"/>
              </a:lnSpc>
            </a:pPr>
          </a:p>
          <a:p>
            <a:pPr algn="ctr">
              <a:lnSpc>
                <a:spcPts val="2465"/>
              </a:lnSpc>
            </a:pPr>
            <a:r>
              <a:rPr lang="en-US" sz="2709">
                <a:solidFill>
                  <a:srgbClr val="106861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A dynamic food zone featuring a variety of local and international cuisines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276520" y="6345935"/>
            <a:ext cx="3295274" cy="1897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9"/>
              </a:lnSpc>
            </a:pPr>
            <a:r>
              <a:rPr lang="en-US" sz="3109" b="true">
                <a:solidFill>
                  <a:srgbClr val="106861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Travel Zone</a:t>
            </a:r>
          </a:p>
          <a:p>
            <a:pPr algn="ctr">
              <a:lnSpc>
                <a:spcPts val="2465"/>
              </a:lnSpc>
            </a:pPr>
          </a:p>
          <a:p>
            <a:pPr algn="ctr">
              <a:lnSpc>
                <a:spcPts val="2465"/>
              </a:lnSpc>
            </a:pPr>
            <a:r>
              <a:rPr lang="en-US" sz="2709">
                <a:solidFill>
                  <a:srgbClr val="106861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A dedicated area showcasing travel services, packages, and destination opportunities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3657486" y="8963338"/>
            <a:ext cx="4204925" cy="3211034"/>
          </a:xfrm>
          <a:custGeom>
            <a:avLst/>
            <a:gdLst/>
            <a:ahLst/>
            <a:cxnLst/>
            <a:rect r="r" b="b" t="t" l="l"/>
            <a:pathLst>
              <a:path h="3211034" w="4204925">
                <a:moveTo>
                  <a:pt x="0" y="0"/>
                </a:moveTo>
                <a:lnTo>
                  <a:pt x="4204925" y="0"/>
                </a:lnTo>
                <a:lnTo>
                  <a:pt x="4204925" y="3211034"/>
                </a:lnTo>
                <a:lnTo>
                  <a:pt x="0" y="32110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0" y="1701024"/>
            <a:ext cx="6615948" cy="6884953"/>
            <a:chOff x="0" y="0"/>
            <a:chExt cx="1860278" cy="19359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60278" cy="1935917"/>
            </a:xfrm>
            <a:custGeom>
              <a:avLst/>
              <a:gdLst/>
              <a:ahLst/>
              <a:cxnLst/>
              <a:rect r="r" b="b" t="t" l="l"/>
              <a:pathLst>
                <a:path h="1935917" w="1860278">
                  <a:moveTo>
                    <a:pt x="0" y="0"/>
                  </a:moveTo>
                  <a:lnTo>
                    <a:pt x="1860278" y="0"/>
                  </a:lnTo>
                  <a:lnTo>
                    <a:pt x="1860278" y="1935917"/>
                  </a:lnTo>
                  <a:lnTo>
                    <a:pt x="0" y="1935917"/>
                  </a:lnTo>
                  <a:close/>
                </a:path>
              </a:pathLst>
            </a:custGeom>
            <a:solidFill>
              <a:srgbClr val="F1F1E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860278" cy="19644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528052" y="1701024"/>
            <a:ext cx="6615948" cy="6884953"/>
            <a:chOff x="0" y="0"/>
            <a:chExt cx="1860278" cy="193591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60278" cy="1935917"/>
            </a:xfrm>
            <a:custGeom>
              <a:avLst/>
              <a:gdLst/>
              <a:ahLst/>
              <a:cxnLst/>
              <a:rect r="r" b="b" t="t" l="l"/>
              <a:pathLst>
                <a:path h="1935917" w="1860278">
                  <a:moveTo>
                    <a:pt x="0" y="0"/>
                  </a:moveTo>
                  <a:lnTo>
                    <a:pt x="1860278" y="0"/>
                  </a:lnTo>
                  <a:lnTo>
                    <a:pt x="1860278" y="1935917"/>
                  </a:lnTo>
                  <a:lnTo>
                    <a:pt x="0" y="1935917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860278" cy="19644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691910" y="4774785"/>
            <a:ext cx="5838436" cy="1721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19"/>
              </a:lnSpc>
            </a:pPr>
            <a:r>
              <a:rPr lang="en-US" sz="2897" spc="31">
                <a:solidFill>
                  <a:srgbClr val="106861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Nepal</a:t>
            </a:r>
            <a:r>
              <a:rPr lang="en-US" sz="2897" spc="31">
                <a:solidFill>
                  <a:srgbClr val="106861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, Bhutan</a:t>
            </a:r>
            <a:r>
              <a:rPr lang="en-US" sz="2897" spc="31">
                <a:solidFill>
                  <a:srgbClr val="106861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, India, Sri Lanka, China, Japan, South Korea, Malaysia, Indonesia, Turkey, Nigeria, Somalia, Saudi Arabia, Egypt, Palestine, Uzbekistan, and other countries.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012948" y="4755735"/>
            <a:ext cx="5646156" cy="3007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97" spc="31">
                <a:solidFill>
                  <a:srgbClr val="FFFFFF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There will be B2B and B2C sessions, country</a:t>
            </a:r>
            <a:r>
              <a:rPr lang="en-US" sz="2897" spc="31">
                <a:solidFill>
                  <a:srgbClr val="FFFFFF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 presentations, seminars, round-table discussions, and cultural shows</a:t>
            </a:r>
            <a:r>
              <a:rPr lang="en-US" sz="2897" spc="31">
                <a:solidFill>
                  <a:srgbClr val="FFFFFF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 every</a:t>
            </a:r>
            <a:r>
              <a:rPr lang="en-US" sz="2897" spc="31">
                <a:solidFill>
                  <a:srgbClr val="FFFFFF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 evening. As a new addition, there will be an “International Student Cultural Pavilion,” which will make this fair different from other tourism expos.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465467" y="2516163"/>
            <a:ext cx="4038661" cy="585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3"/>
              </a:lnSpc>
            </a:pPr>
            <a:r>
              <a:rPr lang="en-US" b="true" sz="4121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SPECIAL</a:t>
            </a:r>
            <a:r>
              <a:rPr lang="en-US" b="true" sz="4121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   </a:t>
            </a:r>
            <a:r>
              <a:rPr lang="en-US" b="true" sz="4121">
                <a:solidFill>
                  <a:srgbClr val="106861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FEATURE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82861" y="-1311998"/>
            <a:ext cx="4102978" cy="2245448"/>
          </a:xfrm>
          <a:custGeom>
            <a:avLst/>
            <a:gdLst/>
            <a:ahLst/>
            <a:cxnLst/>
            <a:rect r="r" b="b" t="t" l="l"/>
            <a:pathLst>
              <a:path h="2245448" w="410297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012948" y="3715094"/>
            <a:ext cx="2657446" cy="60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3"/>
              </a:lnSpc>
            </a:pPr>
            <a:r>
              <a:rPr lang="en-US" b="true" sz="4321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EXPO  PLAN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49854" y="3715094"/>
            <a:ext cx="5399542" cy="60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3"/>
              </a:lnSpc>
            </a:pPr>
            <a:r>
              <a:rPr lang="en-US" b="true" sz="4321">
                <a:solidFill>
                  <a:srgbClr val="106861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PROBABLE PERTICIPATION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68619" y="-719115"/>
            <a:ext cx="3166881" cy="2418345"/>
          </a:xfrm>
          <a:custGeom>
            <a:avLst/>
            <a:gdLst/>
            <a:ahLst/>
            <a:cxnLst/>
            <a:rect r="r" b="b" t="t" l="l"/>
            <a:pathLst>
              <a:path h="2418345" w="3166881">
                <a:moveTo>
                  <a:pt x="0" y="0"/>
                </a:moveTo>
                <a:lnTo>
                  <a:pt x="3166881" y="0"/>
                </a:lnTo>
                <a:lnTo>
                  <a:pt x="3166881" y="2418345"/>
                </a:lnTo>
                <a:lnTo>
                  <a:pt x="0" y="24183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9661982"/>
            <a:ext cx="4102978" cy="2245448"/>
          </a:xfrm>
          <a:custGeom>
            <a:avLst/>
            <a:gdLst/>
            <a:ahLst/>
            <a:cxnLst/>
            <a:rect r="r" b="b" t="t" l="l"/>
            <a:pathLst>
              <a:path h="2245448" w="410297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753154" y="3477206"/>
            <a:ext cx="3089642" cy="5047087"/>
            <a:chOff x="0" y="0"/>
            <a:chExt cx="813733" cy="13292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3733" cy="1329274"/>
            </a:xfrm>
            <a:custGeom>
              <a:avLst/>
              <a:gdLst/>
              <a:ahLst/>
              <a:cxnLst/>
              <a:rect r="r" b="b" t="t" l="l"/>
              <a:pathLst>
                <a:path h="1329274" w="813733">
                  <a:moveTo>
                    <a:pt x="85196" y="0"/>
                  </a:moveTo>
                  <a:lnTo>
                    <a:pt x="728537" y="0"/>
                  </a:lnTo>
                  <a:cubicBezTo>
                    <a:pt x="775589" y="0"/>
                    <a:pt x="813733" y="38144"/>
                    <a:pt x="813733" y="85196"/>
                  </a:cubicBezTo>
                  <a:lnTo>
                    <a:pt x="813733" y="1244078"/>
                  </a:lnTo>
                  <a:cubicBezTo>
                    <a:pt x="813733" y="1266673"/>
                    <a:pt x="804757" y="1288343"/>
                    <a:pt x="788780" y="1304321"/>
                  </a:cubicBezTo>
                  <a:cubicBezTo>
                    <a:pt x="772802" y="1320298"/>
                    <a:pt x="751132" y="1329274"/>
                    <a:pt x="728537" y="1329274"/>
                  </a:cubicBezTo>
                  <a:lnTo>
                    <a:pt x="85196" y="1329274"/>
                  </a:lnTo>
                  <a:cubicBezTo>
                    <a:pt x="38144" y="1329274"/>
                    <a:pt x="0" y="1291130"/>
                    <a:pt x="0" y="1244078"/>
                  </a:cubicBezTo>
                  <a:lnTo>
                    <a:pt x="0" y="85196"/>
                  </a:lnTo>
                  <a:cubicBezTo>
                    <a:pt x="0" y="38144"/>
                    <a:pt x="38144" y="0"/>
                    <a:pt x="85196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13733" cy="1367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5400000">
            <a:off x="3470240" y="5627628"/>
            <a:ext cx="6998613" cy="746243"/>
          </a:xfrm>
          <a:custGeom>
            <a:avLst/>
            <a:gdLst/>
            <a:ahLst/>
            <a:cxnLst/>
            <a:rect r="r" b="b" t="t" l="l"/>
            <a:pathLst>
              <a:path h="746243" w="6998613">
                <a:moveTo>
                  <a:pt x="0" y="0"/>
                </a:moveTo>
                <a:lnTo>
                  <a:pt x="6998613" y="0"/>
                </a:lnTo>
                <a:lnTo>
                  <a:pt x="6998613" y="746244"/>
                </a:lnTo>
                <a:lnTo>
                  <a:pt x="0" y="7462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678" t="-11032" r="-1678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-10800000">
            <a:off x="10464241" y="3298454"/>
            <a:ext cx="3089642" cy="5047087"/>
            <a:chOff x="0" y="0"/>
            <a:chExt cx="813733" cy="13292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3733" cy="1329274"/>
            </a:xfrm>
            <a:custGeom>
              <a:avLst/>
              <a:gdLst/>
              <a:ahLst/>
              <a:cxnLst/>
              <a:rect r="r" b="b" t="t" l="l"/>
              <a:pathLst>
                <a:path h="1329274" w="813733">
                  <a:moveTo>
                    <a:pt x="85196" y="0"/>
                  </a:moveTo>
                  <a:lnTo>
                    <a:pt x="728537" y="0"/>
                  </a:lnTo>
                  <a:cubicBezTo>
                    <a:pt x="775589" y="0"/>
                    <a:pt x="813733" y="38144"/>
                    <a:pt x="813733" y="85196"/>
                  </a:cubicBezTo>
                  <a:lnTo>
                    <a:pt x="813733" y="1244078"/>
                  </a:lnTo>
                  <a:cubicBezTo>
                    <a:pt x="813733" y="1266673"/>
                    <a:pt x="804757" y="1288343"/>
                    <a:pt x="788780" y="1304321"/>
                  </a:cubicBezTo>
                  <a:cubicBezTo>
                    <a:pt x="772802" y="1320298"/>
                    <a:pt x="751132" y="1329274"/>
                    <a:pt x="728537" y="1329274"/>
                  </a:cubicBezTo>
                  <a:lnTo>
                    <a:pt x="85196" y="1329274"/>
                  </a:lnTo>
                  <a:cubicBezTo>
                    <a:pt x="38144" y="1329274"/>
                    <a:pt x="0" y="1291130"/>
                    <a:pt x="0" y="1244078"/>
                  </a:cubicBezTo>
                  <a:lnTo>
                    <a:pt x="0" y="85196"/>
                  </a:lnTo>
                  <a:cubicBezTo>
                    <a:pt x="0" y="38144"/>
                    <a:pt x="38144" y="0"/>
                    <a:pt x="85196" y="0"/>
                  </a:cubicBezTo>
                  <a:close/>
                </a:path>
              </a:pathLst>
            </a:custGeom>
            <a:solidFill>
              <a:srgbClr val="F1F1E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3733" cy="1367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5400000">
            <a:off x="7823830" y="5627628"/>
            <a:ext cx="6998613" cy="746243"/>
          </a:xfrm>
          <a:custGeom>
            <a:avLst/>
            <a:gdLst/>
            <a:ahLst/>
            <a:cxnLst/>
            <a:rect r="r" b="b" t="t" l="l"/>
            <a:pathLst>
              <a:path h="746243" w="6998613">
                <a:moveTo>
                  <a:pt x="0" y="0"/>
                </a:moveTo>
                <a:lnTo>
                  <a:pt x="6998614" y="0"/>
                </a:lnTo>
                <a:lnTo>
                  <a:pt x="6998614" y="746244"/>
                </a:lnTo>
                <a:lnTo>
                  <a:pt x="0" y="7462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678" t="-11032" r="-1678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952500" y="2501443"/>
            <a:ext cx="6017047" cy="6998613"/>
            <a:chOff x="0" y="0"/>
            <a:chExt cx="1584737" cy="18432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84737" cy="1843256"/>
            </a:xfrm>
            <a:custGeom>
              <a:avLst/>
              <a:gdLst/>
              <a:ahLst/>
              <a:cxnLst/>
              <a:rect r="r" b="b" t="t" l="l"/>
              <a:pathLst>
                <a:path h="1843256" w="1584737">
                  <a:moveTo>
                    <a:pt x="43747" y="0"/>
                  </a:moveTo>
                  <a:lnTo>
                    <a:pt x="1540990" y="0"/>
                  </a:lnTo>
                  <a:cubicBezTo>
                    <a:pt x="1565151" y="0"/>
                    <a:pt x="1584737" y="19586"/>
                    <a:pt x="1584737" y="43747"/>
                  </a:cubicBezTo>
                  <a:lnTo>
                    <a:pt x="1584737" y="1799510"/>
                  </a:lnTo>
                  <a:cubicBezTo>
                    <a:pt x="1584737" y="1823670"/>
                    <a:pt x="1565151" y="1843256"/>
                    <a:pt x="1540990" y="1843256"/>
                  </a:cubicBezTo>
                  <a:lnTo>
                    <a:pt x="43747" y="1843256"/>
                  </a:lnTo>
                  <a:cubicBezTo>
                    <a:pt x="19586" y="1843256"/>
                    <a:pt x="0" y="1823670"/>
                    <a:pt x="0" y="1799510"/>
                  </a:cubicBezTo>
                  <a:lnTo>
                    <a:pt x="0" y="43747"/>
                  </a:lnTo>
                  <a:cubicBezTo>
                    <a:pt x="0" y="19586"/>
                    <a:pt x="19586" y="0"/>
                    <a:pt x="4374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584737" cy="1881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10800000">
            <a:off x="11318453" y="2501443"/>
            <a:ext cx="6017047" cy="6998613"/>
            <a:chOff x="0" y="0"/>
            <a:chExt cx="1584737" cy="18432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84737" cy="1843256"/>
            </a:xfrm>
            <a:custGeom>
              <a:avLst/>
              <a:gdLst/>
              <a:ahLst/>
              <a:cxnLst/>
              <a:rect r="r" b="b" t="t" l="l"/>
              <a:pathLst>
                <a:path h="1843256" w="1584737">
                  <a:moveTo>
                    <a:pt x="43747" y="0"/>
                  </a:moveTo>
                  <a:lnTo>
                    <a:pt x="1540990" y="0"/>
                  </a:lnTo>
                  <a:cubicBezTo>
                    <a:pt x="1565151" y="0"/>
                    <a:pt x="1584737" y="19586"/>
                    <a:pt x="1584737" y="43747"/>
                  </a:cubicBezTo>
                  <a:lnTo>
                    <a:pt x="1584737" y="1799510"/>
                  </a:lnTo>
                  <a:cubicBezTo>
                    <a:pt x="1584737" y="1823670"/>
                    <a:pt x="1565151" y="1843256"/>
                    <a:pt x="1540990" y="1843256"/>
                  </a:cubicBezTo>
                  <a:lnTo>
                    <a:pt x="43747" y="1843256"/>
                  </a:lnTo>
                  <a:cubicBezTo>
                    <a:pt x="19586" y="1843256"/>
                    <a:pt x="0" y="1823670"/>
                    <a:pt x="0" y="1799510"/>
                  </a:cubicBezTo>
                  <a:lnTo>
                    <a:pt x="0" y="43747"/>
                  </a:lnTo>
                  <a:cubicBezTo>
                    <a:pt x="0" y="19586"/>
                    <a:pt x="19586" y="0"/>
                    <a:pt x="4374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584737" cy="1881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5400000">
            <a:off x="8690471" y="4936324"/>
            <a:ext cx="907057" cy="2221381"/>
            <a:chOff x="0" y="0"/>
            <a:chExt cx="533400" cy="130629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33400" cy="1306295"/>
            </a:xfrm>
            <a:custGeom>
              <a:avLst/>
              <a:gdLst/>
              <a:ahLst/>
              <a:cxnLst/>
              <a:rect r="r" b="b" t="t" l="l"/>
              <a:pathLst>
                <a:path h="1306295" w="533400">
                  <a:moveTo>
                    <a:pt x="0" y="1033245"/>
                  </a:moveTo>
                  <a:lnTo>
                    <a:pt x="266700" y="1306295"/>
                  </a:lnTo>
                  <a:lnTo>
                    <a:pt x="533400" y="1033245"/>
                  </a:lnTo>
                  <a:lnTo>
                    <a:pt x="400050" y="1033245"/>
                  </a:lnTo>
                  <a:lnTo>
                    <a:pt x="400050" y="273050"/>
                  </a:lnTo>
                  <a:lnTo>
                    <a:pt x="533400" y="273050"/>
                  </a:lnTo>
                  <a:lnTo>
                    <a:pt x="266700" y="0"/>
                  </a:lnTo>
                  <a:lnTo>
                    <a:pt x="0" y="273050"/>
                  </a:lnTo>
                  <a:lnTo>
                    <a:pt x="133350" y="273050"/>
                  </a:lnTo>
                  <a:lnTo>
                    <a:pt x="133350" y="1033245"/>
                  </a:lnTo>
                  <a:lnTo>
                    <a:pt x="0" y="1033245"/>
                  </a:lnTo>
                  <a:close/>
                </a:path>
              </a:pathLst>
            </a:custGeom>
            <a:solidFill>
              <a:srgbClr val="C7D2D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39700" y="63500"/>
              <a:ext cx="254000" cy="1141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273159" y="1590604"/>
            <a:ext cx="13741682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Detail Program plan for 4</a:t>
            </a:r>
            <a:r>
              <a:rPr lang="en-US" sz="2799">
                <a:solidFill>
                  <a:srgbClr val="000000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th</a:t>
            </a:r>
            <a:r>
              <a:rPr lang="en-US" sz="2799">
                <a:solidFill>
                  <a:srgbClr val="000000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 &amp; 5</a:t>
            </a:r>
            <a:r>
              <a:rPr lang="en-US" sz="2799">
                <a:solidFill>
                  <a:srgbClr val="000000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th</a:t>
            </a:r>
            <a:r>
              <a:rPr lang="en-US" sz="2799">
                <a:solidFill>
                  <a:srgbClr val="000000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 September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73159" y="975289"/>
            <a:ext cx="13741682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b="true" sz="3899">
                <a:solidFill>
                  <a:srgbClr val="000000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Day Wise Program</a:t>
            </a:r>
          </a:p>
        </p:txBody>
      </p:sp>
      <p:sp>
        <p:nvSpPr>
          <p:cNvPr name="TextBox 23" id="23"/>
          <p:cNvSpPr txBox="true"/>
          <p:nvPr/>
        </p:nvSpPr>
        <p:spPr>
          <a:xfrm rot="5400000">
            <a:off x="5810330" y="5817902"/>
            <a:ext cx="3222989" cy="365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 spc="508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DAY - 01</a:t>
            </a:r>
          </a:p>
        </p:txBody>
      </p:sp>
      <p:sp>
        <p:nvSpPr>
          <p:cNvPr name="TextBox 24" id="24"/>
          <p:cNvSpPr txBox="true"/>
          <p:nvPr/>
        </p:nvSpPr>
        <p:spPr>
          <a:xfrm rot="-5400000">
            <a:off x="9256200" y="5817902"/>
            <a:ext cx="3222989" cy="365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b="true" sz="2099" spc="354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DAY - 02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5964504" y="2840295"/>
            <a:ext cx="430056" cy="430056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1F1E8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b="true" sz="1600">
                  <a:solidFill>
                    <a:srgbClr val="106861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01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964504" y="4177794"/>
            <a:ext cx="430056" cy="430056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1F1E8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b="true" sz="1600">
                  <a:solidFill>
                    <a:srgbClr val="106861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02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964504" y="5515293"/>
            <a:ext cx="430056" cy="430056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1F1E8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b="true" sz="1600">
                  <a:solidFill>
                    <a:srgbClr val="106861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03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964504" y="6852791"/>
            <a:ext cx="430056" cy="430056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1F1E8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b="true" sz="1600">
                  <a:solidFill>
                    <a:srgbClr val="106861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04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964504" y="8190290"/>
            <a:ext cx="430056" cy="430056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1F1E8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b="true" sz="1600">
                  <a:solidFill>
                    <a:srgbClr val="106861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05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2672138" y="3182753"/>
            <a:ext cx="4183224" cy="825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The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me: “Future of 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H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ospitality &amp; Smart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To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ur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sm” and To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pics: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AI,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VR tourism, sustainable travel</a:t>
            </a:r>
          </a:p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</a:p>
        </p:txBody>
      </p:sp>
      <p:sp>
        <p:nvSpPr>
          <p:cNvPr name="TextBox 41" id="41"/>
          <p:cNvSpPr txBox="true"/>
          <p:nvPr/>
        </p:nvSpPr>
        <p:spPr>
          <a:xfrm rot="0">
            <a:off x="12672138" y="2802162"/>
            <a:ext cx="4883006" cy="306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Conference Ses</a:t>
            </a:r>
            <a:r>
              <a:rPr lang="en-US" b="true" sz="18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sion 2 (10:30 AM – 12:00 PM)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1893440" y="2840295"/>
            <a:ext cx="430056" cy="430056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106861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b="true" sz="1600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01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2681663" y="4479753"/>
            <a:ext cx="4663362" cy="825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Hospital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it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y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career ta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lks and I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nternsh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ip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&amp; recru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it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ment booths</a:t>
            </a:r>
          </a:p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</a:p>
        </p:txBody>
      </p:sp>
      <p:sp>
        <p:nvSpPr>
          <p:cNvPr name="TextBox 46" id="46"/>
          <p:cNvSpPr txBox="true"/>
          <p:nvPr/>
        </p:nvSpPr>
        <p:spPr>
          <a:xfrm rot="0">
            <a:off x="12672138" y="4115865"/>
            <a:ext cx="4663362" cy="306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Youth &amp; Ca</a:t>
            </a:r>
            <a:r>
              <a:rPr lang="en-US" b="true" sz="18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reer Summit (2:00 PM – 3:30 PM)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1893440" y="4177794"/>
            <a:ext cx="430056" cy="430056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106861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b="true" sz="1600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02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2672138" y="5831522"/>
            <a:ext cx="4663362" cy="549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Trav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l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-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ech start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ups p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itch and Inve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to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rs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&amp; VCs panel</a:t>
            </a:r>
          </a:p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</a:p>
        </p:txBody>
      </p:sp>
      <p:sp>
        <p:nvSpPr>
          <p:cNvPr name="TextBox 51" id="51"/>
          <p:cNvSpPr txBox="true"/>
          <p:nvPr/>
        </p:nvSpPr>
        <p:spPr>
          <a:xfrm rot="0">
            <a:off x="12672138" y="5454537"/>
            <a:ext cx="4587162" cy="306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Startup Pitch S</a:t>
            </a:r>
            <a:r>
              <a:rPr lang="en-US" b="true" sz="18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ession (3:30 PM – 5:00 PM)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1893440" y="5515293"/>
            <a:ext cx="430056" cy="430056"/>
            <a:chOff x="0" y="0"/>
            <a:chExt cx="812800" cy="812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106861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b="true" sz="1600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03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2689657" y="6934798"/>
            <a:ext cx="4183224" cy="825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Best Tourism Award, Best Airlines Partner Award, Best Hospitality Award, Emerging Travel Award and so on 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2689657" y="6582329"/>
            <a:ext cx="4672887" cy="306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Award &amp; Recognition (5:30 PM - 6:30 PM)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1910958" y="6674039"/>
            <a:ext cx="430056" cy="430056"/>
            <a:chOff x="0" y="0"/>
            <a:chExt cx="812800" cy="8128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106861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b="true" sz="1600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04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12681663" y="8533819"/>
            <a:ext cx="4577637" cy="549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Key Highlight Recap, Crest Giving, Cultural Show &amp; Concert 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681663" y="8152157"/>
            <a:ext cx="5190273" cy="306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Closing &amp; Concert (8:00 PM - 10:00 PM)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11893440" y="8190290"/>
            <a:ext cx="430056" cy="430056"/>
            <a:chOff x="0" y="0"/>
            <a:chExt cx="812800" cy="8128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106861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b="true" sz="1600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05</a:t>
              </a: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1432638" y="3182753"/>
            <a:ext cx="4183224" cy="825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Opening Speech by Tourism Minister, Greetings of ambassadors &amp; diplomats, Cultural welcom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 performance and so on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52500" y="2802162"/>
            <a:ext cx="4663362" cy="306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Opening</a:t>
            </a:r>
            <a:r>
              <a:rPr lang="en-US" b="true" sz="18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Ceremony (10:00 AM – 11:00 AM)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432638" y="4513074"/>
            <a:ext cx="4183224" cy="825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Them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e: “Tourism Diplomacy 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&amp;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Eco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om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 Grow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h”, Sp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ea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kers: G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o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ver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ment, UN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bodies, tourism boards (TBD), 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952500" y="4139661"/>
            <a:ext cx="4663362" cy="306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Conference S</a:t>
            </a:r>
            <a:r>
              <a:rPr lang="en-US" b="true" sz="18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ession 1 (11:30 AM – 1:00 PM)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432638" y="5831522"/>
            <a:ext cx="4183224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Ass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ess the variety and number of features 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ava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lab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le to m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et diverse user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needs.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432638" y="5477193"/>
            <a:ext cx="418322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</a:t>
            </a:r>
            <a:r>
              <a:rPr lang="en-US" b="true" sz="18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unction Range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432638" y="7273796"/>
            <a:ext cx="4183224" cy="825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Liv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 cooking by 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ternational chefs &amp; “Taste the World in Dhaka” experience</a:t>
            </a:r>
          </a:p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</a:p>
        </p:txBody>
      </p:sp>
      <p:sp>
        <p:nvSpPr>
          <p:cNvPr name="TextBox 72" id="72"/>
          <p:cNvSpPr txBox="true"/>
          <p:nvPr/>
        </p:nvSpPr>
        <p:spPr>
          <a:xfrm rot="0">
            <a:off x="1432638" y="6814658"/>
            <a:ext cx="4183224" cy="306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Culina</a:t>
            </a:r>
            <a:r>
              <a:rPr lang="en-US" b="true" sz="18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ry Showcase (1:00 PM – 4:00 PM)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432638" y="8611295"/>
            <a:ext cx="4183224" cy="825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Mult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i-country performances &amp; Fashion show (Traditional Attire of Na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o</a:t>
            </a:r>
            <a:r>
              <a:rPr lang="en-US" sz="1599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ns)</a:t>
            </a:r>
          </a:p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</a:p>
        </p:txBody>
      </p:sp>
      <p:sp>
        <p:nvSpPr>
          <p:cNvPr name="TextBox 74" id="74"/>
          <p:cNvSpPr txBox="true"/>
          <p:nvPr/>
        </p:nvSpPr>
        <p:spPr>
          <a:xfrm rot="0">
            <a:off x="1432638" y="8152157"/>
            <a:ext cx="4183224" cy="306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Cultu</a:t>
            </a:r>
            <a:r>
              <a:rPr lang="en-US" b="true" sz="18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ral Evening (5:30 PM – 8:00 PM)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2861" y="-1179874"/>
            <a:ext cx="4102978" cy="2245448"/>
          </a:xfrm>
          <a:custGeom>
            <a:avLst/>
            <a:gdLst/>
            <a:ahLst/>
            <a:cxnLst/>
            <a:rect r="r" b="b" t="t" l="l"/>
            <a:pathLst>
              <a:path h="2245448" w="410297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5964717"/>
            <a:ext cx="18509703" cy="5575815"/>
            <a:chOff x="0" y="0"/>
            <a:chExt cx="3765659" cy="11343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65659" cy="1134357"/>
            </a:xfrm>
            <a:custGeom>
              <a:avLst/>
              <a:gdLst/>
              <a:ahLst/>
              <a:cxnLst/>
              <a:rect r="r" b="b" t="t" l="l"/>
              <a:pathLst>
                <a:path h="1134357" w="3765659">
                  <a:moveTo>
                    <a:pt x="0" y="0"/>
                  </a:moveTo>
                  <a:lnTo>
                    <a:pt x="3765659" y="0"/>
                  </a:lnTo>
                  <a:lnTo>
                    <a:pt x="3765659" y="1134357"/>
                  </a:lnTo>
                  <a:lnTo>
                    <a:pt x="0" y="1134357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3765659" cy="11629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026768" y="2354351"/>
            <a:ext cx="4232532" cy="6348798"/>
            <a:chOff x="0" y="0"/>
            <a:chExt cx="6350000" cy="9525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9525000"/>
            </a:xfrm>
            <a:custGeom>
              <a:avLst/>
              <a:gdLst/>
              <a:ahLst/>
              <a:cxnLst/>
              <a:rect r="r" b="b" t="t" l="l"/>
              <a:pathLst>
                <a:path h="9525000" w="6350000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215900" y="0"/>
                    <a:pt x="482600" y="0"/>
                  </a:cubicBezTo>
                  <a:lnTo>
                    <a:pt x="5867400" y="0"/>
                  </a:lnTo>
                  <a:cubicBezTo>
                    <a:pt x="6134100" y="0"/>
                    <a:pt x="6350000" y="217170"/>
                    <a:pt x="6350000" y="482600"/>
                  </a:cubicBezTo>
                  <a:lnTo>
                    <a:pt x="6350000" y="9042400"/>
                  </a:lnTo>
                  <a:cubicBezTo>
                    <a:pt x="6350000" y="9309100"/>
                    <a:pt x="6134100" y="9525000"/>
                    <a:pt x="5867400" y="9525000"/>
                  </a:cubicBezTo>
                  <a:lnTo>
                    <a:pt x="482600" y="9525000"/>
                  </a:lnTo>
                  <a:cubicBezTo>
                    <a:pt x="217170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4"/>
              <a:stretch>
                <a:fillRect l="0" t="-125" r="0" b="-125"/>
              </a:stretch>
            </a:blipFill>
            <a:ln w="47625" cap="sq">
              <a:solidFill>
                <a:srgbClr val="5B777B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082861" y="2447080"/>
            <a:ext cx="4232532" cy="6348798"/>
            <a:chOff x="0" y="0"/>
            <a:chExt cx="6350000" cy="9525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9525000"/>
            </a:xfrm>
            <a:custGeom>
              <a:avLst/>
              <a:gdLst/>
              <a:ahLst/>
              <a:cxnLst/>
              <a:rect r="r" b="b" t="t" l="l"/>
              <a:pathLst>
                <a:path h="9525000" w="6350000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215900" y="0"/>
                    <a:pt x="482600" y="0"/>
                  </a:cubicBezTo>
                  <a:lnTo>
                    <a:pt x="5867400" y="0"/>
                  </a:lnTo>
                  <a:cubicBezTo>
                    <a:pt x="6134100" y="0"/>
                    <a:pt x="6350000" y="217170"/>
                    <a:pt x="6350000" y="482600"/>
                  </a:cubicBezTo>
                  <a:lnTo>
                    <a:pt x="6350000" y="9042400"/>
                  </a:lnTo>
                  <a:cubicBezTo>
                    <a:pt x="6350000" y="9309100"/>
                    <a:pt x="6134100" y="9525000"/>
                    <a:pt x="5867400" y="9525000"/>
                  </a:cubicBezTo>
                  <a:lnTo>
                    <a:pt x="482600" y="9525000"/>
                  </a:lnTo>
                  <a:cubicBezTo>
                    <a:pt x="217170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5"/>
              <a:stretch>
                <a:fillRect l="-9999" t="0" r="-9999" b="0"/>
              </a:stretch>
            </a:blipFill>
            <a:ln w="47625" cap="sq">
              <a:solidFill>
                <a:srgbClr val="5B777B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6547895" y="3149090"/>
            <a:ext cx="5246370" cy="524637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4270" y="0"/>
                  </a:moveTo>
                  <a:lnTo>
                    <a:pt x="768530" y="0"/>
                  </a:lnTo>
                  <a:cubicBezTo>
                    <a:pt x="792980" y="0"/>
                    <a:pt x="812800" y="19820"/>
                    <a:pt x="812800" y="44270"/>
                  </a:cubicBezTo>
                  <a:lnTo>
                    <a:pt x="812800" y="768530"/>
                  </a:lnTo>
                  <a:cubicBezTo>
                    <a:pt x="812800" y="792980"/>
                    <a:pt x="792980" y="812800"/>
                    <a:pt x="768530" y="812800"/>
                  </a:cubicBezTo>
                  <a:lnTo>
                    <a:pt x="44270" y="812800"/>
                  </a:lnTo>
                  <a:cubicBezTo>
                    <a:pt x="19820" y="812800"/>
                    <a:pt x="0" y="792980"/>
                    <a:pt x="0" y="768530"/>
                  </a:cubicBezTo>
                  <a:lnTo>
                    <a:pt x="0" y="44270"/>
                  </a:lnTo>
                  <a:cubicBezTo>
                    <a:pt x="0" y="19820"/>
                    <a:pt x="19820" y="0"/>
                    <a:pt x="44270" y="0"/>
                  </a:cubicBezTo>
                  <a:close/>
                </a:path>
              </a:pathLst>
            </a:custGeom>
            <a:blipFill>
              <a:blip r:embed="rId6"/>
              <a:stretch>
                <a:fillRect l="-29040" t="0" r="-26817" b="-1618"/>
              </a:stretch>
            </a:blipFill>
            <a:ln w="47625" cap="rnd">
              <a:solidFill>
                <a:srgbClr val="5B777B"/>
              </a:solidFill>
              <a:prstDash val="solid"/>
              <a:round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7054739" y="8672553"/>
            <a:ext cx="4400226" cy="585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3"/>
              </a:lnSpc>
            </a:pPr>
            <a:r>
              <a:rPr lang="en-US" b="true" sz="4121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Chinese Dragon Dance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94466" y="9152836"/>
            <a:ext cx="3609320" cy="585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3"/>
              </a:lnSpc>
            </a:pPr>
            <a:r>
              <a:rPr lang="en-US" b="true" sz="4121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Nepali Folk Dance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761975" y="8984477"/>
            <a:ext cx="2762119" cy="585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3"/>
              </a:lnSpc>
            </a:pPr>
            <a:r>
              <a:rPr lang="en-US" b="true" sz="4121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African Music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210451"/>
            <a:ext cx="18288000" cy="8330082"/>
            <a:chOff x="0" y="0"/>
            <a:chExt cx="3720555" cy="16946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20555" cy="1694692"/>
            </a:xfrm>
            <a:custGeom>
              <a:avLst/>
              <a:gdLst/>
              <a:ahLst/>
              <a:cxnLst/>
              <a:rect r="r" b="b" t="t" l="l"/>
              <a:pathLst>
                <a:path h="1694692" w="3720555">
                  <a:moveTo>
                    <a:pt x="0" y="0"/>
                  </a:moveTo>
                  <a:lnTo>
                    <a:pt x="3720555" y="0"/>
                  </a:lnTo>
                  <a:lnTo>
                    <a:pt x="3720555" y="1694692"/>
                  </a:lnTo>
                  <a:lnTo>
                    <a:pt x="0" y="1694692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720555" cy="17232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687494" y="1028700"/>
            <a:ext cx="6571806" cy="4363502"/>
            <a:chOff x="0" y="0"/>
            <a:chExt cx="1224146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4146" cy="812800"/>
            </a:xfrm>
            <a:custGeom>
              <a:avLst/>
              <a:gdLst/>
              <a:ahLst/>
              <a:cxnLst/>
              <a:rect r="r" b="b" t="t" l="l"/>
              <a:pathLst>
                <a:path h="812800" w="1224146">
                  <a:moveTo>
                    <a:pt x="27095" y="0"/>
                  </a:moveTo>
                  <a:lnTo>
                    <a:pt x="1197051" y="0"/>
                  </a:lnTo>
                  <a:cubicBezTo>
                    <a:pt x="1212015" y="0"/>
                    <a:pt x="1224146" y="12131"/>
                    <a:pt x="1224146" y="27095"/>
                  </a:cubicBezTo>
                  <a:lnTo>
                    <a:pt x="1224146" y="785705"/>
                  </a:lnTo>
                  <a:cubicBezTo>
                    <a:pt x="1224146" y="792891"/>
                    <a:pt x="1221291" y="799783"/>
                    <a:pt x="1216210" y="804864"/>
                  </a:cubicBezTo>
                  <a:cubicBezTo>
                    <a:pt x="1211129" y="809945"/>
                    <a:pt x="1204237" y="812800"/>
                    <a:pt x="1197051" y="812800"/>
                  </a:cubicBezTo>
                  <a:lnTo>
                    <a:pt x="27095" y="812800"/>
                  </a:lnTo>
                  <a:cubicBezTo>
                    <a:pt x="19909" y="812800"/>
                    <a:pt x="13017" y="809945"/>
                    <a:pt x="7936" y="804864"/>
                  </a:cubicBezTo>
                  <a:cubicBezTo>
                    <a:pt x="2855" y="799783"/>
                    <a:pt x="0" y="792891"/>
                    <a:pt x="0" y="785705"/>
                  </a:cubicBezTo>
                  <a:lnTo>
                    <a:pt x="0" y="27095"/>
                  </a:lnTo>
                  <a:cubicBezTo>
                    <a:pt x="0" y="19909"/>
                    <a:pt x="2855" y="13017"/>
                    <a:pt x="7936" y="7936"/>
                  </a:cubicBezTo>
                  <a:cubicBezTo>
                    <a:pt x="13017" y="2855"/>
                    <a:pt x="19909" y="0"/>
                    <a:pt x="27095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77" r="0" b="-77"/>
              </a:stretch>
            </a:blipFill>
            <a:ln w="47625" cap="rnd">
              <a:solidFill>
                <a:srgbClr val="FFDE59"/>
              </a:solidFill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6154894" y="4600884"/>
            <a:ext cx="6571806" cy="4363502"/>
            <a:chOff x="0" y="0"/>
            <a:chExt cx="1224146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24146" cy="812800"/>
            </a:xfrm>
            <a:custGeom>
              <a:avLst/>
              <a:gdLst/>
              <a:ahLst/>
              <a:cxnLst/>
              <a:rect r="r" b="b" t="t" l="l"/>
              <a:pathLst>
                <a:path h="812800" w="1224146">
                  <a:moveTo>
                    <a:pt x="27095" y="0"/>
                  </a:moveTo>
                  <a:lnTo>
                    <a:pt x="1197051" y="0"/>
                  </a:lnTo>
                  <a:cubicBezTo>
                    <a:pt x="1212015" y="0"/>
                    <a:pt x="1224146" y="12131"/>
                    <a:pt x="1224146" y="27095"/>
                  </a:cubicBezTo>
                  <a:lnTo>
                    <a:pt x="1224146" y="785705"/>
                  </a:lnTo>
                  <a:cubicBezTo>
                    <a:pt x="1224146" y="792891"/>
                    <a:pt x="1221291" y="799783"/>
                    <a:pt x="1216210" y="804864"/>
                  </a:cubicBezTo>
                  <a:cubicBezTo>
                    <a:pt x="1211129" y="809945"/>
                    <a:pt x="1204237" y="812800"/>
                    <a:pt x="1197051" y="812800"/>
                  </a:cubicBezTo>
                  <a:lnTo>
                    <a:pt x="27095" y="812800"/>
                  </a:lnTo>
                  <a:cubicBezTo>
                    <a:pt x="19909" y="812800"/>
                    <a:pt x="13017" y="809945"/>
                    <a:pt x="7936" y="804864"/>
                  </a:cubicBezTo>
                  <a:cubicBezTo>
                    <a:pt x="2855" y="799783"/>
                    <a:pt x="0" y="792891"/>
                    <a:pt x="0" y="785705"/>
                  </a:cubicBezTo>
                  <a:lnTo>
                    <a:pt x="0" y="27095"/>
                  </a:lnTo>
                  <a:cubicBezTo>
                    <a:pt x="0" y="19909"/>
                    <a:pt x="2855" y="13017"/>
                    <a:pt x="7936" y="7936"/>
                  </a:cubicBezTo>
                  <a:cubicBezTo>
                    <a:pt x="13017" y="2855"/>
                    <a:pt x="19909" y="0"/>
                    <a:pt x="27095" y="0"/>
                  </a:cubicBezTo>
                  <a:close/>
                </a:path>
              </a:pathLst>
            </a:custGeom>
            <a:blipFill>
              <a:blip r:embed="rId3"/>
              <a:stretch>
                <a:fillRect l="-21595" t="0" r="-22455" b="0"/>
              </a:stretch>
            </a:blipFill>
            <a:ln w="47625" cap="rnd">
              <a:solidFill>
                <a:srgbClr val="FFDE59"/>
              </a:solidFill>
              <a:prstDash val="solid"/>
              <a:round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28700" y="1028700"/>
            <a:ext cx="6571806" cy="4363502"/>
            <a:chOff x="0" y="0"/>
            <a:chExt cx="1224146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24146" cy="812800"/>
            </a:xfrm>
            <a:custGeom>
              <a:avLst/>
              <a:gdLst/>
              <a:ahLst/>
              <a:cxnLst/>
              <a:rect r="r" b="b" t="t" l="l"/>
              <a:pathLst>
                <a:path h="812800" w="1224146">
                  <a:moveTo>
                    <a:pt x="27095" y="0"/>
                  </a:moveTo>
                  <a:lnTo>
                    <a:pt x="1197051" y="0"/>
                  </a:lnTo>
                  <a:cubicBezTo>
                    <a:pt x="1212015" y="0"/>
                    <a:pt x="1224146" y="12131"/>
                    <a:pt x="1224146" y="27095"/>
                  </a:cubicBezTo>
                  <a:lnTo>
                    <a:pt x="1224146" y="785705"/>
                  </a:lnTo>
                  <a:cubicBezTo>
                    <a:pt x="1224146" y="792891"/>
                    <a:pt x="1221291" y="799783"/>
                    <a:pt x="1216210" y="804864"/>
                  </a:cubicBezTo>
                  <a:cubicBezTo>
                    <a:pt x="1211129" y="809945"/>
                    <a:pt x="1204237" y="812800"/>
                    <a:pt x="1197051" y="812800"/>
                  </a:cubicBezTo>
                  <a:lnTo>
                    <a:pt x="27095" y="812800"/>
                  </a:lnTo>
                  <a:cubicBezTo>
                    <a:pt x="19909" y="812800"/>
                    <a:pt x="13017" y="809945"/>
                    <a:pt x="7936" y="804864"/>
                  </a:cubicBezTo>
                  <a:cubicBezTo>
                    <a:pt x="2855" y="799783"/>
                    <a:pt x="0" y="792891"/>
                    <a:pt x="0" y="785705"/>
                  </a:cubicBezTo>
                  <a:lnTo>
                    <a:pt x="0" y="27095"/>
                  </a:lnTo>
                  <a:cubicBezTo>
                    <a:pt x="0" y="19909"/>
                    <a:pt x="2855" y="13017"/>
                    <a:pt x="7936" y="7936"/>
                  </a:cubicBezTo>
                  <a:cubicBezTo>
                    <a:pt x="13017" y="2855"/>
                    <a:pt x="19909" y="0"/>
                    <a:pt x="27095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64" r="0" b="-164"/>
              </a:stretch>
            </a:blipFill>
            <a:ln w="47625" cap="rnd">
              <a:solidFill>
                <a:srgbClr val="FFDE59"/>
              </a:solidFill>
              <a:prstDash val="solid"/>
              <a:round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070717" y="5605583"/>
            <a:ext cx="4790512" cy="523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3"/>
              </a:lnSpc>
            </a:pPr>
            <a:r>
              <a:rPr lang="en-US" b="true" sz="3721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Kashmiri Cultural Dance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468788" y="5605583"/>
            <a:ext cx="4790512" cy="1097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13"/>
              </a:lnSpc>
            </a:pPr>
            <a:r>
              <a:rPr lang="en-US" b="true" sz="3921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MULTI CULTURAL</a:t>
            </a:r>
            <a:r>
              <a:rPr lang="en-US" b="true" sz="3921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 FASHION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07856" y="9137157"/>
            <a:ext cx="4265882" cy="554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3"/>
              </a:lnSpc>
            </a:pPr>
            <a:r>
              <a:rPr lang="en-US" b="true" sz="3921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Indian Fold Dance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-10800000">
            <a:off x="1028700" y="8726739"/>
            <a:ext cx="3194747" cy="2439625"/>
          </a:xfrm>
          <a:custGeom>
            <a:avLst/>
            <a:gdLst/>
            <a:ahLst/>
            <a:cxnLst/>
            <a:rect r="r" b="b" t="t" l="l"/>
            <a:pathLst>
              <a:path h="2439625" w="3194747">
                <a:moveTo>
                  <a:pt x="0" y="0"/>
                </a:moveTo>
                <a:lnTo>
                  <a:pt x="3194747" y="0"/>
                </a:lnTo>
                <a:lnTo>
                  <a:pt x="3194747" y="2439625"/>
                </a:lnTo>
                <a:lnTo>
                  <a:pt x="0" y="24396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696201"/>
            <a:ext cx="18288000" cy="6853856"/>
            <a:chOff x="0" y="0"/>
            <a:chExt cx="3720555" cy="13943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20555" cy="1394365"/>
            </a:xfrm>
            <a:custGeom>
              <a:avLst/>
              <a:gdLst/>
              <a:ahLst/>
              <a:cxnLst/>
              <a:rect r="r" b="b" t="t" l="l"/>
              <a:pathLst>
                <a:path h="1394365" w="3720555">
                  <a:moveTo>
                    <a:pt x="0" y="0"/>
                  </a:moveTo>
                  <a:lnTo>
                    <a:pt x="3720555" y="0"/>
                  </a:lnTo>
                  <a:lnTo>
                    <a:pt x="3720555" y="1394365"/>
                  </a:lnTo>
                  <a:lnTo>
                    <a:pt x="0" y="1394365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720555" cy="1422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5290" y="4686676"/>
            <a:ext cx="6571806" cy="4363502"/>
            <a:chOff x="0" y="0"/>
            <a:chExt cx="1224146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4146" cy="812800"/>
            </a:xfrm>
            <a:custGeom>
              <a:avLst/>
              <a:gdLst/>
              <a:ahLst/>
              <a:cxnLst/>
              <a:rect r="r" b="b" t="t" l="l"/>
              <a:pathLst>
                <a:path h="812800" w="1224146">
                  <a:moveTo>
                    <a:pt x="27095" y="0"/>
                  </a:moveTo>
                  <a:lnTo>
                    <a:pt x="1197051" y="0"/>
                  </a:lnTo>
                  <a:cubicBezTo>
                    <a:pt x="1212015" y="0"/>
                    <a:pt x="1224146" y="12131"/>
                    <a:pt x="1224146" y="27095"/>
                  </a:cubicBezTo>
                  <a:lnTo>
                    <a:pt x="1224146" y="785705"/>
                  </a:lnTo>
                  <a:cubicBezTo>
                    <a:pt x="1224146" y="792891"/>
                    <a:pt x="1221291" y="799783"/>
                    <a:pt x="1216210" y="804864"/>
                  </a:cubicBezTo>
                  <a:cubicBezTo>
                    <a:pt x="1211129" y="809945"/>
                    <a:pt x="1204237" y="812800"/>
                    <a:pt x="1197051" y="812800"/>
                  </a:cubicBezTo>
                  <a:lnTo>
                    <a:pt x="27095" y="812800"/>
                  </a:lnTo>
                  <a:cubicBezTo>
                    <a:pt x="19909" y="812800"/>
                    <a:pt x="13017" y="809945"/>
                    <a:pt x="7936" y="804864"/>
                  </a:cubicBezTo>
                  <a:cubicBezTo>
                    <a:pt x="2855" y="799783"/>
                    <a:pt x="0" y="792891"/>
                    <a:pt x="0" y="785705"/>
                  </a:cubicBezTo>
                  <a:lnTo>
                    <a:pt x="0" y="27095"/>
                  </a:lnTo>
                  <a:cubicBezTo>
                    <a:pt x="0" y="19909"/>
                    <a:pt x="2855" y="13017"/>
                    <a:pt x="7936" y="7936"/>
                  </a:cubicBezTo>
                  <a:cubicBezTo>
                    <a:pt x="13017" y="2855"/>
                    <a:pt x="19909" y="0"/>
                    <a:pt x="27095" y="0"/>
                  </a:cubicBezTo>
                  <a:close/>
                </a:path>
              </a:pathLst>
            </a:custGeom>
            <a:blipFill>
              <a:blip r:embed="rId2"/>
              <a:stretch>
                <a:fillRect l="-16" t="0" r="-16" b="0"/>
              </a:stretch>
            </a:blipFill>
            <a:ln w="47625" cap="rnd">
              <a:solidFill>
                <a:srgbClr val="FFDE59"/>
              </a:solidFill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5858097" y="1236821"/>
            <a:ext cx="6571806" cy="4363502"/>
            <a:chOff x="0" y="0"/>
            <a:chExt cx="1224146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24146" cy="812800"/>
            </a:xfrm>
            <a:custGeom>
              <a:avLst/>
              <a:gdLst/>
              <a:ahLst/>
              <a:cxnLst/>
              <a:rect r="r" b="b" t="t" l="l"/>
              <a:pathLst>
                <a:path h="812800" w="1224146">
                  <a:moveTo>
                    <a:pt x="27095" y="0"/>
                  </a:moveTo>
                  <a:lnTo>
                    <a:pt x="1197051" y="0"/>
                  </a:lnTo>
                  <a:cubicBezTo>
                    <a:pt x="1212015" y="0"/>
                    <a:pt x="1224146" y="12131"/>
                    <a:pt x="1224146" y="27095"/>
                  </a:cubicBezTo>
                  <a:lnTo>
                    <a:pt x="1224146" y="785705"/>
                  </a:lnTo>
                  <a:cubicBezTo>
                    <a:pt x="1224146" y="792891"/>
                    <a:pt x="1221291" y="799783"/>
                    <a:pt x="1216210" y="804864"/>
                  </a:cubicBezTo>
                  <a:cubicBezTo>
                    <a:pt x="1211129" y="809945"/>
                    <a:pt x="1204237" y="812800"/>
                    <a:pt x="1197051" y="812800"/>
                  </a:cubicBezTo>
                  <a:lnTo>
                    <a:pt x="27095" y="812800"/>
                  </a:lnTo>
                  <a:cubicBezTo>
                    <a:pt x="19909" y="812800"/>
                    <a:pt x="13017" y="809945"/>
                    <a:pt x="7936" y="804864"/>
                  </a:cubicBezTo>
                  <a:cubicBezTo>
                    <a:pt x="2855" y="799783"/>
                    <a:pt x="0" y="792891"/>
                    <a:pt x="0" y="785705"/>
                  </a:cubicBezTo>
                  <a:lnTo>
                    <a:pt x="0" y="27095"/>
                  </a:lnTo>
                  <a:cubicBezTo>
                    <a:pt x="0" y="19909"/>
                    <a:pt x="2855" y="13017"/>
                    <a:pt x="7936" y="7936"/>
                  </a:cubicBezTo>
                  <a:cubicBezTo>
                    <a:pt x="13017" y="2855"/>
                    <a:pt x="19909" y="0"/>
                    <a:pt x="27095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25304" r="0" b="-25304"/>
              </a:stretch>
            </a:blipFill>
            <a:ln w="47625" cap="rnd">
              <a:solidFill>
                <a:srgbClr val="FFDE59"/>
              </a:solidFill>
              <a:prstDash val="solid"/>
              <a:round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687494" y="4686676"/>
            <a:ext cx="6571806" cy="4363502"/>
            <a:chOff x="0" y="0"/>
            <a:chExt cx="1224146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24146" cy="812800"/>
            </a:xfrm>
            <a:custGeom>
              <a:avLst/>
              <a:gdLst/>
              <a:ahLst/>
              <a:cxnLst/>
              <a:rect r="r" b="b" t="t" l="l"/>
              <a:pathLst>
                <a:path h="812800" w="1224146">
                  <a:moveTo>
                    <a:pt x="27095" y="0"/>
                  </a:moveTo>
                  <a:lnTo>
                    <a:pt x="1197051" y="0"/>
                  </a:lnTo>
                  <a:cubicBezTo>
                    <a:pt x="1212015" y="0"/>
                    <a:pt x="1224146" y="12131"/>
                    <a:pt x="1224146" y="27095"/>
                  </a:cubicBezTo>
                  <a:lnTo>
                    <a:pt x="1224146" y="785705"/>
                  </a:lnTo>
                  <a:cubicBezTo>
                    <a:pt x="1224146" y="792891"/>
                    <a:pt x="1221291" y="799783"/>
                    <a:pt x="1216210" y="804864"/>
                  </a:cubicBezTo>
                  <a:cubicBezTo>
                    <a:pt x="1211129" y="809945"/>
                    <a:pt x="1204237" y="812800"/>
                    <a:pt x="1197051" y="812800"/>
                  </a:cubicBezTo>
                  <a:lnTo>
                    <a:pt x="27095" y="812800"/>
                  </a:lnTo>
                  <a:cubicBezTo>
                    <a:pt x="19909" y="812800"/>
                    <a:pt x="13017" y="809945"/>
                    <a:pt x="7936" y="804864"/>
                  </a:cubicBezTo>
                  <a:cubicBezTo>
                    <a:pt x="2855" y="799783"/>
                    <a:pt x="0" y="792891"/>
                    <a:pt x="0" y="785705"/>
                  </a:cubicBezTo>
                  <a:lnTo>
                    <a:pt x="0" y="27095"/>
                  </a:lnTo>
                  <a:cubicBezTo>
                    <a:pt x="0" y="19909"/>
                    <a:pt x="2855" y="13017"/>
                    <a:pt x="7936" y="7936"/>
                  </a:cubicBezTo>
                  <a:cubicBezTo>
                    <a:pt x="13017" y="2855"/>
                    <a:pt x="19909" y="0"/>
                    <a:pt x="27095" y="0"/>
                  </a:cubicBezTo>
                  <a:close/>
                </a:path>
              </a:pathLst>
            </a:custGeom>
            <a:blipFill>
              <a:blip r:embed="rId4"/>
              <a:stretch>
                <a:fillRect l="-7490" t="0" r="-7490" b="0"/>
              </a:stretch>
            </a:blipFill>
            <a:ln w="47625" cap="rnd">
              <a:solidFill>
                <a:srgbClr val="FFDE59"/>
              </a:solidFill>
              <a:prstDash val="solid"/>
              <a:round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4064553" y="-689603"/>
            <a:ext cx="3194747" cy="2439625"/>
          </a:xfrm>
          <a:custGeom>
            <a:avLst/>
            <a:gdLst/>
            <a:ahLst/>
            <a:cxnLst/>
            <a:rect r="r" b="b" t="t" l="l"/>
            <a:pathLst>
              <a:path h="2439625" w="3194747">
                <a:moveTo>
                  <a:pt x="0" y="0"/>
                </a:moveTo>
                <a:lnTo>
                  <a:pt x="3194747" y="0"/>
                </a:lnTo>
                <a:lnTo>
                  <a:pt x="3194747" y="2439625"/>
                </a:lnTo>
                <a:lnTo>
                  <a:pt x="0" y="24396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-1179874"/>
            <a:ext cx="4102978" cy="2245448"/>
          </a:xfrm>
          <a:custGeom>
            <a:avLst/>
            <a:gdLst/>
            <a:ahLst/>
            <a:cxnLst/>
            <a:rect r="r" b="b" t="t" l="l"/>
            <a:pathLst>
              <a:path h="2245448" w="410297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078964" y="5750698"/>
            <a:ext cx="2130073" cy="1640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3"/>
              </a:lnSpc>
            </a:pPr>
            <a:r>
              <a:rPr lang="en-US" b="true" sz="3921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Russian </a:t>
            </a:r>
            <a:r>
              <a:rPr lang="en-US" b="true" sz="3921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Music Show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16819" y="9296373"/>
            <a:ext cx="4790512" cy="554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3"/>
              </a:lnSpc>
            </a:pPr>
            <a:r>
              <a:rPr lang="en-US" b="true" sz="3921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Arabian Belly Dance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07441" y="9296373"/>
            <a:ext cx="4287570" cy="554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3"/>
              </a:lnSpc>
            </a:pPr>
            <a:r>
              <a:rPr lang="en-US" b="true" sz="3921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Bengali Cultural Dance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3903928" cy="4223605"/>
            <a:chOff x="0" y="0"/>
            <a:chExt cx="1068264" cy="11557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8264" cy="1155740"/>
            </a:xfrm>
            <a:custGeom>
              <a:avLst/>
              <a:gdLst/>
              <a:ahLst/>
              <a:cxnLst/>
              <a:rect r="r" b="b" t="t" l="l"/>
              <a:pathLst>
                <a:path h="1155740" w="1068264">
                  <a:moveTo>
                    <a:pt x="45612" y="0"/>
                  </a:moveTo>
                  <a:lnTo>
                    <a:pt x="1022653" y="0"/>
                  </a:lnTo>
                  <a:cubicBezTo>
                    <a:pt x="1047843" y="0"/>
                    <a:pt x="1068264" y="20421"/>
                    <a:pt x="1068264" y="45612"/>
                  </a:cubicBezTo>
                  <a:lnTo>
                    <a:pt x="1068264" y="1110129"/>
                  </a:lnTo>
                  <a:cubicBezTo>
                    <a:pt x="1068264" y="1135319"/>
                    <a:pt x="1047843" y="1155740"/>
                    <a:pt x="1022653" y="1155740"/>
                  </a:cubicBezTo>
                  <a:lnTo>
                    <a:pt x="45612" y="1155740"/>
                  </a:lnTo>
                  <a:cubicBezTo>
                    <a:pt x="20421" y="1155740"/>
                    <a:pt x="0" y="1135319"/>
                    <a:pt x="0" y="1110129"/>
                  </a:cubicBezTo>
                  <a:lnTo>
                    <a:pt x="0" y="45612"/>
                  </a:lnTo>
                  <a:cubicBezTo>
                    <a:pt x="0" y="20421"/>
                    <a:pt x="20421" y="0"/>
                    <a:pt x="45612" y="0"/>
                  </a:cubicBezTo>
                  <a:close/>
                </a:path>
              </a:pathLst>
            </a:custGeom>
            <a:blipFill>
              <a:blip r:embed="rId2"/>
              <a:stretch>
                <a:fillRect l="-4094" t="0" r="-4094" b="0"/>
              </a:stretch>
            </a:blipFill>
            <a:ln w="47625" cap="rnd">
              <a:solidFill>
                <a:srgbClr val="F1F1E8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990400" y="0"/>
            <a:ext cx="10278296" cy="10798684"/>
            <a:chOff x="0" y="0"/>
            <a:chExt cx="2707041" cy="28440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07041" cy="2844098"/>
            </a:xfrm>
            <a:custGeom>
              <a:avLst/>
              <a:gdLst/>
              <a:ahLst/>
              <a:cxnLst/>
              <a:rect r="r" b="b" t="t" l="l"/>
              <a:pathLst>
                <a:path h="2844098" w="2707041">
                  <a:moveTo>
                    <a:pt x="36155" y="0"/>
                  </a:moveTo>
                  <a:lnTo>
                    <a:pt x="2670886" y="0"/>
                  </a:lnTo>
                  <a:cubicBezTo>
                    <a:pt x="2690854" y="0"/>
                    <a:pt x="2707041" y="16187"/>
                    <a:pt x="2707041" y="36155"/>
                  </a:cubicBezTo>
                  <a:lnTo>
                    <a:pt x="2707041" y="2807943"/>
                  </a:lnTo>
                  <a:cubicBezTo>
                    <a:pt x="2707041" y="2817532"/>
                    <a:pt x="2703232" y="2826728"/>
                    <a:pt x="2696451" y="2833508"/>
                  </a:cubicBezTo>
                  <a:cubicBezTo>
                    <a:pt x="2689671" y="2840289"/>
                    <a:pt x="2680475" y="2844098"/>
                    <a:pt x="2670886" y="2844098"/>
                  </a:cubicBezTo>
                  <a:lnTo>
                    <a:pt x="36155" y="2844098"/>
                  </a:lnTo>
                  <a:cubicBezTo>
                    <a:pt x="16187" y="2844098"/>
                    <a:pt x="0" y="2827911"/>
                    <a:pt x="0" y="2807943"/>
                  </a:cubicBezTo>
                  <a:lnTo>
                    <a:pt x="0" y="36155"/>
                  </a:lnTo>
                  <a:cubicBezTo>
                    <a:pt x="0" y="16187"/>
                    <a:pt x="16187" y="0"/>
                    <a:pt x="36155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707041" cy="2882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086471" y="1028700"/>
            <a:ext cx="3903928" cy="4223605"/>
            <a:chOff x="0" y="0"/>
            <a:chExt cx="1068264" cy="11557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8264" cy="1155740"/>
            </a:xfrm>
            <a:custGeom>
              <a:avLst/>
              <a:gdLst/>
              <a:ahLst/>
              <a:cxnLst/>
              <a:rect r="r" b="b" t="t" l="l"/>
              <a:pathLst>
                <a:path h="1155740" w="1068264">
                  <a:moveTo>
                    <a:pt x="45612" y="0"/>
                  </a:moveTo>
                  <a:lnTo>
                    <a:pt x="1022653" y="0"/>
                  </a:lnTo>
                  <a:cubicBezTo>
                    <a:pt x="1047843" y="0"/>
                    <a:pt x="1068264" y="20421"/>
                    <a:pt x="1068264" y="45612"/>
                  </a:cubicBezTo>
                  <a:lnTo>
                    <a:pt x="1068264" y="1110129"/>
                  </a:lnTo>
                  <a:cubicBezTo>
                    <a:pt x="1068264" y="1135319"/>
                    <a:pt x="1047843" y="1155740"/>
                    <a:pt x="1022653" y="1155740"/>
                  </a:cubicBezTo>
                  <a:lnTo>
                    <a:pt x="45612" y="1155740"/>
                  </a:lnTo>
                  <a:cubicBezTo>
                    <a:pt x="20421" y="1155740"/>
                    <a:pt x="0" y="1135319"/>
                    <a:pt x="0" y="1110129"/>
                  </a:cubicBezTo>
                  <a:lnTo>
                    <a:pt x="0" y="45612"/>
                  </a:lnTo>
                  <a:cubicBezTo>
                    <a:pt x="0" y="20421"/>
                    <a:pt x="20421" y="0"/>
                    <a:pt x="45612" y="0"/>
                  </a:cubicBezTo>
                  <a:close/>
                </a:path>
              </a:pathLst>
            </a:custGeom>
            <a:blipFill>
              <a:blip r:embed="rId3"/>
              <a:stretch>
                <a:fillRect l="-32640" t="0" r="-32640" b="-1661"/>
              </a:stretch>
            </a:blipFill>
            <a:ln w="47625" cap="rnd">
              <a:solidFill>
                <a:srgbClr val="F1F1E8"/>
              </a:solidFill>
              <a:prstDash val="solid"/>
              <a:round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0668649" y="3691007"/>
            <a:ext cx="6155065" cy="1708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439"/>
              </a:lnSpc>
            </a:pPr>
            <a:r>
              <a:rPr lang="en-US" sz="7575" b="true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International</a:t>
            </a:r>
          </a:p>
          <a:p>
            <a:pPr algn="r">
              <a:lnSpc>
                <a:spcPts val="6439"/>
              </a:lnSpc>
            </a:pPr>
            <a:r>
              <a:rPr lang="en-US" b="true" sz="7575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Trip Story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086471" y="5583689"/>
            <a:ext cx="11775343" cy="4223605"/>
            <a:chOff x="0" y="0"/>
            <a:chExt cx="3222184" cy="11557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222184" cy="1155740"/>
            </a:xfrm>
            <a:custGeom>
              <a:avLst/>
              <a:gdLst/>
              <a:ahLst/>
              <a:cxnLst/>
              <a:rect r="r" b="b" t="t" l="l"/>
              <a:pathLst>
                <a:path h="1155740" w="3222184">
                  <a:moveTo>
                    <a:pt x="15122" y="0"/>
                  </a:moveTo>
                  <a:lnTo>
                    <a:pt x="3207063" y="0"/>
                  </a:lnTo>
                  <a:cubicBezTo>
                    <a:pt x="3215414" y="0"/>
                    <a:pt x="3222184" y="6770"/>
                    <a:pt x="3222184" y="15122"/>
                  </a:cubicBezTo>
                  <a:lnTo>
                    <a:pt x="3222184" y="1140618"/>
                  </a:lnTo>
                  <a:cubicBezTo>
                    <a:pt x="3222184" y="1144629"/>
                    <a:pt x="3220591" y="1148475"/>
                    <a:pt x="3217755" y="1151311"/>
                  </a:cubicBezTo>
                  <a:cubicBezTo>
                    <a:pt x="3214919" y="1154147"/>
                    <a:pt x="3211073" y="1155740"/>
                    <a:pt x="3207063" y="1155740"/>
                  </a:cubicBezTo>
                  <a:lnTo>
                    <a:pt x="15122" y="1155740"/>
                  </a:lnTo>
                  <a:cubicBezTo>
                    <a:pt x="6770" y="1155740"/>
                    <a:pt x="0" y="1148970"/>
                    <a:pt x="0" y="1140618"/>
                  </a:cubicBezTo>
                  <a:lnTo>
                    <a:pt x="0" y="15122"/>
                  </a:lnTo>
                  <a:cubicBezTo>
                    <a:pt x="0" y="11111"/>
                    <a:pt x="1593" y="7265"/>
                    <a:pt x="4429" y="4429"/>
                  </a:cubicBezTo>
                  <a:cubicBezTo>
                    <a:pt x="7265" y="1593"/>
                    <a:pt x="11111" y="0"/>
                    <a:pt x="15122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56007" r="0" b="-867"/>
              </a:stretch>
            </a:blipFill>
            <a:ln w="47625" cap="rnd">
              <a:solidFill>
                <a:srgbClr val="F1F1E8"/>
              </a:solidFill>
              <a:prstDash val="solid"/>
              <a:round/>
            </a:ln>
          </p:spPr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028700" y="8203392"/>
            <a:ext cx="3398596" cy="2595292"/>
          </a:xfrm>
          <a:custGeom>
            <a:avLst/>
            <a:gdLst/>
            <a:ahLst/>
            <a:cxnLst/>
            <a:rect r="r" b="b" t="t" l="l"/>
            <a:pathLst>
              <a:path h="2595292" w="3398596">
                <a:moveTo>
                  <a:pt x="0" y="0"/>
                </a:moveTo>
                <a:lnTo>
                  <a:pt x="3398596" y="0"/>
                </a:lnTo>
                <a:lnTo>
                  <a:pt x="3398596" y="2595292"/>
                </a:lnTo>
                <a:lnTo>
                  <a:pt x="0" y="25952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1969" y="2730665"/>
            <a:ext cx="5824069" cy="4605529"/>
            <a:chOff x="0" y="0"/>
            <a:chExt cx="1324929" cy="10477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4929" cy="1047721"/>
            </a:xfrm>
            <a:custGeom>
              <a:avLst/>
              <a:gdLst/>
              <a:ahLst/>
              <a:cxnLst/>
              <a:rect r="r" b="b" t="t" l="l"/>
              <a:pathLst>
                <a:path h="1047721" w="1324929">
                  <a:moveTo>
                    <a:pt x="30574" y="0"/>
                  </a:moveTo>
                  <a:lnTo>
                    <a:pt x="1294355" y="0"/>
                  </a:lnTo>
                  <a:cubicBezTo>
                    <a:pt x="1302464" y="0"/>
                    <a:pt x="1310240" y="3221"/>
                    <a:pt x="1315974" y="8955"/>
                  </a:cubicBezTo>
                  <a:cubicBezTo>
                    <a:pt x="1321708" y="14689"/>
                    <a:pt x="1324929" y="22465"/>
                    <a:pt x="1324929" y="30574"/>
                  </a:cubicBezTo>
                  <a:lnTo>
                    <a:pt x="1324929" y="1017147"/>
                  </a:lnTo>
                  <a:cubicBezTo>
                    <a:pt x="1324929" y="1025256"/>
                    <a:pt x="1321708" y="1033032"/>
                    <a:pt x="1315974" y="1038766"/>
                  </a:cubicBezTo>
                  <a:cubicBezTo>
                    <a:pt x="1310240" y="1044500"/>
                    <a:pt x="1302464" y="1047721"/>
                    <a:pt x="1294355" y="1047721"/>
                  </a:cubicBezTo>
                  <a:lnTo>
                    <a:pt x="30574" y="1047721"/>
                  </a:lnTo>
                  <a:cubicBezTo>
                    <a:pt x="22465" y="1047721"/>
                    <a:pt x="14689" y="1044500"/>
                    <a:pt x="8955" y="1038766"/>
                  </a:cubicBezTo>
                  <a:cubicBezTo>
                    <a:pt x="3221" y="1033032"/>
                    <a:pt x="0" y="1025256"/>
                    <a:pt x="0" y="1017147"/>
                  </a:cubicBezTo>
                  <a:lnTo>
                    <a:pt x="0" y="30574"/>
                  </a:lnTo>
                  <a:cubicBezTo>
                    <a:pt x="0" y="22465"/>
                    <a:pt x="3221" y="14689"/>
                    <a:pt x="8955" y="8955"/>
                  </a:cubicBezTo>
                  <a:cubicBezTo>
                    <a:pt x="14689" y="3221"/>
                    <a:pt x="22465" y="0"/>
                    <a:pt x="30574" y="0"/>
                  </a:cubicBezTo>
                  <a:close/>
                </a:path>
              </a:pathLst>
            </a:custGeom>
            <a:blipFill>
              <a:blip r:embed="rId2"/>
              <a:stretch>
                <a:fillRect l="-2718" t="0" r="-2718" b="0"/>
              </a:stretch>
            </a:blipFill>
            <a:ln w="476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0" y="0"/>
            <a:ext cx="10077071" cy="10798684"/>
            <a:chOff x="0" y="0"/>
            <a:chExt cx="2654043" cy="28440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54043" cy="2844098"/>
            </a:xfrm>
            <a:custGeom>
              <a:avLst/>
              <a:gdLst/>
              <a:ahLst/>
              <a:cxnLst/>
              <a:rect r="r" b="b" t="t" l="l"/>
              <a:pathLst>
                <a:path h="2844098" w="2654043">
                  <a:moveTo>
                    <a:pt x="36877" y="0"/>
                  </a:moveTo>
                  <a:lnTo>
                    <a:pt x="2617166" y="0"/>
                  </a:lnTo>
                  <a:cubicBezTo>
                    <a:pt x="2637533" y="0"/>
                    <a:pt x="2654043" y="16510"/>
                    <a:pt x="2654043" y="36877"/>
                  </a:cubicBezTo>
                  <a:lnTo>
                    <a:pt x="2654043" y="2807221"/>
                  </a:lnTo>
                  <a:cubicBezTo>
                    <a:pt x="2654043" y="2827587"/>
                    <a:pt x="2637533" y="2844098"/>
                    <a:pt x="2617166" y="2844098"/>
                  </a:cubicBezTo>
                  <a:lnTo>
                    <a:pt x="36877" y="2844098"/>
                  </a:lnTo>
                  <a:cubicBezTo>
                    <a:pt x="16510" y="2844098"/>
                    <a:pt x="0" y="2827587"/>
                    <a:pt x="0" y="2807221"/>
                  </a:cubicBezTo>
                  <a:lnTo>
                    <a:pt x="0" y="36877"/>
                  </a:lnTo>
                  <a:cubicBezTo>
                    <a:pt x="0" y="16510"/>
                    <a:pt x="16510" y="0"/>
                    <a:pt x="36877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654043" cy="2882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231427" y="2730665"/>
            <a:ext cx="5824069" cy="4605529"/>
            <a:chOff x="0" y="0"/>
            <a:chExt cx="1324929" cy="10477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24929" cy="1047721"/>
            </a:xfrm>
            <a:custGeom>
              <a:avLst/>
              <a:gdLst/>
              <a:ahLst/>
              <a:cxnLst/>
              <a:rect r="r" b="b" t="t" l="l"/>
              <a:pathLst>
                <a:path h="1047721" w="1324929">
                  <a:moveTo>
                    <a:pt x="30574" y="0"/>
                  </a:moveTo>
                  <a:lnTo>
                    <a:pt x="1294355" y="0"/>
                  </a:lnTo>
                  <a:cubicBezTo>
                    <a:pt x="1302464" y="0"/>
                    <a:pt x="1310240" y="3221"/>
                    <a:pt x="1315974" y="8955"/>
                  </a:cubicBezTo>
                  <a:cubicBezTo>
                    <a:pt x="1321708" y="14689"/>
                    <a:pt x="1324929" y="22465"/>
                    <a:pt x="1324929" y="30574"/>
                  </a:cubicBezTo>
                  <a:lnTo>
                    <a:pt x="1324929" y="1017147"/>
                  </a:lnTo>
                  <a:cubicBezTo>
                    <a:pt x="1324929" y="1025256"/>
                    <a:pt x="1321708" y="1033032"/>
                    <a:pt x="1315974" y="1038766"/>
                  </a:cubicBezTo>
                  <a:cubicBezTo>
                    <a:pt x="1310240" y="1044500"/>
                    <a:pt x="1302464" y="1047721"/>
                    <a:pt x="1294355" y="1047721"/>
                  </a:cubicBezTo>
                  <a:lnTo>
                    <a:pt x="30574" y="1047721"/>
                  </a:lnTo>
                  <a:cubicBezTo>
                    <a:pt x="22465" y="1047721"/>
                    <a:pt x="14689" y="1044500"/>
                    <a:pt x="8955" y="1038766"/>
                  </a:cubicBezTo>
                  <a:cubicBezTo>
                    <a:pt x="3221" y="1033032"/>
                    <a:pt x="0" y="1025256"/>
                    <a:pt x="0" y="1017147"/>
                  </a:cubicBezTo>
                  <a:lnTo>
                    <a:pt x="0" y="30574"/>
                  </a:lnTo>
                  <a:cubicBezTo>
                    <a:pt x="0" y="22465"/>
                    <a:pt x="3221" y="14689"/>
                    <a:pt x="8955" y="8955"/>
                  </a:cubicBezTo>
                  <a:cubicBezTo>
                    <a:pt x="14689" y="3221"/>
                    <a:pt x="22465" y="0"/>
                    <a:pt x="30574" y="0"/>
                  </a:cubicBezTo>
                  <a:close/>
                </a:path>
              </a:pathLst>
            </a:custGeom>
            <a:blipFill>
              <a:blip r:embed="rId3"/>
              <a:stretch>
                <a:fillRect l="-3916" t="0" r="-3916" b="0"/>
              </a:stretch>
            </a:blipFill>
            <a:ln w="476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091961" y="2730665"/>
            <a:ext cx="5824069" cy="4605529"/>
            <a:chOff x="0" y="0"/>
            <a:chExt cx="1324929" cy="10477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24929" cy="1047721"/>
            </a:xfrm>
            <a:custGeom>
              <a:avLst/>
              <a:gdLst/>
              <a:ahLst/>
              <a:cxnLst/>
              <a:rect r="r" b="b" t="t" l="l"/>
              <a:pathLst>
                <a:path h="1047721" w="1324929">
                  <a:moveTo>
                    <a:pt x="30574" y="0"/>
                  </a:moveTo>
                  <a:lnTo>
                    <a:pt x="1294355" y="0"/>
                  </a:lnTo>
                  <a:cubicBezTo>
                    <a:pt x="1302464" y="0"/>
                    <a:pt x="1310240" y="3221"/>
                    <a:pt x="1315974" y="8955"/>
                  </a:cubicBezTo>
                  <a:cubicBezTo>
                    <a:pt x="1321708" y="14689"/>
                    <a:pt x="1324929" y="22465"/>
                    <a:pt x="1324929" y="30574"/>
                  </a:cubicBezTo>
                  <a:lnTo>
                    <a:pt x="1324929" y="1017147"/>
                  </a:lnTo>
                  <a:cubicBezTo>
                    <a:pt x="1324929" y="1025256"/>
                    <a:pt x="1321708" y="1033032"/>
                    <a:pt x="1315974" y="1038766"/>
                  </a:cubicBezTo>
                  <a:cubicBezTo>
                    <a:pt x="1310240" y="1044500"/>
                    <a:pt x="1302464" y="1047721"/>
                    <a:pt x="1294355" y="1047721"/>
                  </a:cubicBezTo>
                  <a:lnTo>
                    <a:pt x="30574" y="1047721"/>
                  </a:lnTo>
                  <a:cubicBezTo>
                    <a:pt x="22465" y="1047721"/>
                    <a:pt x="14689" y="1044500"/>
                    <a:pt x="8955" y="1038766"/>
                  </a:cubicBezTo>
                  <a:cubicBezTo>
                    <a:pt x="3221" y="1033032"/>
                    <a:pt x="0" y="1025256"/>
                    <a:pt x="0" y="1017147"/>
                  </a:cubicBezTo>
                  <a:lnTo>
                    <a:pt x="0" y="30574"/>
                  </a:lnTo>
                  <a:cubicBezTo>
                    <a:pt x="0" y="22465"/>
                    <a:pt x="3221" y="14689"/>
                    <a:pt x="8955" y="8955"/>
                  </a:cubicBezTo>
                  <a:cubicBezTo>
                    <a:pt x="14689" y="3221"/>
                    <a:pt x="22465" y="0"/>
                    <a:pt x="30574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3229" r="0" b="-13229"/>
              </a:stretch>
            </a:blipFill>
            <a:ln w="47625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545482" y="7513360"/>
            <a:ext cx="3477043" cy="554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3"/>
              </a:lnSpc>
            </a:pPr>
            <a:r>
              <a:rPr lang="en-US" sz="3921" b="true">
                <a:solidFill>
                  <a:srgbClr val="5B777B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Foreign Food Stall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19996" y="7503862"/>
            <a:ext cx="4248008" cy="554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3"/>
              </a:lnSpc>
            </a:pPr>
            <a:r>
              <a:rPr lang="en-US" sz="3921" b="true">
                <a:solidFill>
                  <a:srgbClr val="5B777B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Traditional </a:t>
            </a:r>
            <a:r>
              <a:rPr lang="en-US" sz="3921" b="true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Food Stall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021733" y="7503862"/>
            <a:ext cx="2568493" cy="554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3"/>
              </a:lnSpc>
            </a:pPr>
            <a:r>
              <a:rPr lang="en-US" b="true" sz="3921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Live Kitchen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-10800000">
            <a:off x="14371513" y="8742141"/>
            <a:ext cx="3194747" cy="2439625"/>
          </a:xfrm>
          <a:custGeom>
            <a:avLst/>
            <a:gdLst/>
            <a:ahLst/>
            <a:cxnLst/>
            <a:rect r="r" b="b" t="t" l="l"/>
            <a:pathLst>
              <a:path h="2439625" w="3194747">
                <a:moveTo>
                  <a:pt x="0" y="0"/>
                </a:moveTo>
                <a:lnTo>
                  <a:pt x="3194747" y="0"/>
                </a:lnTo>
                <a:lnTo>
                  <a:pt x="3194747" y="2439625"/>
                </a:lnTo>
                <a:lnTo>
                  <a:pt x="0" y="24396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28700" y="-1179874"/>
            <a:ext cx="4102978" cy="2245448"/>
          </a:xfrm>
          <a:custGeom>
            <a:avLst/>
            <a:gdLst/>
            <a:ahLst/>
            <a:cxnLst/>
            <a:rect r="r" b="b" t="t" l="l"/>
            <a:pathLst>
              <a:path h="2245448" w="410297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61292" y="0"/>
            <a:ext cx="9859779" cy="10798684"/>
            <a:chOff x="0" y="0"/>
            <a:chExt cx="2596814" cy="28440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96814" cy="2844098"/>
            </a:xfrm>
            <a:custGeom>
              <a:avLst/>
              <a:gdLst/>
              <a:ahLst/>
              <a:cxnLst/>
              <a:rect r="r" b="b" t="t" l="l"/>
              <a:pathLst>
                <a:path h="2844098" w="2596814">
                  <a:moveTo>
                    <a:pt x="37690" y="0"/>
                  </a:moveTo>
                  <a:lnTo>
                    <a:pt x="2559124" y="0"/>
                  </a:lnTo>
                  <a:cubicBezTo>
                    <a:pt x="2579940" y="0"/>
                    <a:pt x="2596814" y="16874"/>
                    <a:pt x="2596814" y="37690"/>
                  </a:cubicBezTo>
                  <a:lnTo>
                    <a:pt x="2596814" y="2806408"/>
                  </a:lnTo>
                  <a:cubicBezTo>
                    <a:pt x="2596814" y="2827224"/>
                    <a:pt x="2579940" y="2844098"/>
                    <a:pt x="2559124" y="2844098"/>
                  </a:cubicBezTo>
                  <a:lnTo>
                    <a:pt x="37690" y="2844098"/>
                  </a:lnTo>
                  <a:cubicBezTo>
                    <a:pt x="16874" y="2844098"/>
                    <a:pt x="0" y="2827224"/>
                    <a:pt x="0" y="2806408"/>
                  </a:cubicBezTo>
                  <a:lnTo>
                    <a:pt x="0" y="37690"/>
                  </a:lnTo>
                  <a:cubicBezTo>
                    <a:pt x="0" y="16874"/>
                    <a:pt x="16874" y="0"/>
                    <a:pt x="37690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96814" cy="2882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975347" y="9292008"/>
            <a:ext cx="4102978" cy="2245448"/>
          </a:xfrm>
          <a:custGeom>
            <a:avLst/>
            <a:gdLst/>
            <a:ahLst/>
            <a:cxnLst/>
            <a:rect r="r" b="b" t="t" l="l"/>
            <a:pathLst>
              <a:path h="2245448" w="410297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72300" y="-572832"/>
            <a:ext cx="3559378" cy="2718070"/>
          </a:xfrm>
          <a:custGeom>
            <a:avLst/>
            <a:gdLst/>
            <a:ahLst/>
            <a:cxnLst/>
            <a:rect r="r" b="b" t="t" l="l"/>
            <a:pathLst>
              <a:path h="2718070" w="3559378">
                <a:moveTo>
                  <a:pt x="0" y="0"/>
                </a:moveTo>
                <a:lnTo>
                  <a:pt x="3559378" y="0"/>
                </a:lnTo>
                <a:lnTo>
                  <a:pt x="3559378" y="2718070"/>
                </a:lnTo>
                <a:lnTo>
                  <a:pt x="0" y="27180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72300" y="3101614"/>
            <a:ext cx="5693397" cy="617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0"/>
              </a:lnSpc>
            </a:pPr>
            <a:r>
              <a:rPr lang="en-US" sz="4400" b="true">
                <a:solidFill>
                  <a:srgbClr val="5B777B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Govt. Important Person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12628" y="1869024"/>
            <a:ext cx="6462843" cy="866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600"/>
              </a:lnSpc>
            </a:pPr>
            <a:r>
              <a:rPr lang="en-US" b="true" sz="6000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 </a:t>
            </a:r>
            <a:r>
              <a:rPr lang="en-US" b="true" sz="6000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 </a:t>
            </a:r>
            <a:r>
              <a:rPr lang="en-US" b="true" sz="6000">
                <a:solidFill>
                  <a:srgbClr val="5B777B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PROSPECTIVE </a:t>
            </a:r>
            <a:r>
              <a:rPr lang="en-US" b="true" sz="6000">
                <a:solidFill>
                  <a:srgbClr val="5B777B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 </a:t>
            </a:r>
            <a:r>
              <a:rPr lang="en-US" b="true" sz="6000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  GUEST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45651" y="3929025"/>
            <a:ext cx="7519394" cy="195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753" indent="-377876" lvl="1">
              <a:lnSpc>
                <a:spcPts val="3850"/>
              </a:lnSpc>
              <a:buFont typeface="Arial"/>
              <a:buChar char="•"/>
            </a:pPr>
            <a:r>
              <a:rPr lang="en-US" sz="3500">
                <a:solidFill>
                  <a:srgbClr val="737373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Honorable State Minister / Minister</a:t>
            </a:r>
          </a:p>
          <a:p>
            <a:pPr algn="l" marL="755753" indent="-377876" lvl="1">
              <a:lnSpc>
                <a:spcPts val="3850"/>
              </a:lnSpc>
              <a:buFont typeface="Arial"/>
              <a:buChar char="•"/>
            </a:pPr>
            <a:r>
              <a:rPr lang="en-US" sz="3500">
                <a:solidFill>
                  <a:srgbClr val="737373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 Secretary of the Ministry</a:t>
            </a:r>
          </a:p>
          <a:p>
            <a:pPr algn="l" marL="755753" indent="-377876" lvl="1">
              <a:lnSpc>
                <a:spcPts val="3850"/>
              </a:lnSpc>
              <a:buFont typeface="Arial"/>
              <a:buChar char="•"/>
            </a:pPr>
            <a:r>
              <a:rPr lang="en-US" sz="3500">
                <a:solidFill>
                  <a:srgbClr val="737373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 Secretary of the Ministry of Foreign Affairs </a:t>
            </a:r>
          </a:p>
          <a:p>
            <a:pPr algn="l" marL="755753" indent="-377876" lvl="1">
              <a:lnSpc>
                <a:spcPts val="3850"/>
              </a:lnSpc>
              <a:buFont typeface="Arial"/>
              <a:buChar char="•"/>
            </a:pPr>
            <a:r>
              <a:rPr lang="en-US" sz="3500">
                <a:solidFill>
                  <a:srgbClr val="737373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 High Commissioners/</a:t>
            </a:r>
            <a:r>
              <a:rPr lang="en-US" sz="3500">
                <a:solidFill>
                  <a:srgbClr val="737373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Ambassadors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85047" y="5172075"/>
            <a:ext cx="9514029" cy="244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753" indent="-377876" lvl="1">
              <a:lnSpc>
                <a:spcPts val="385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Representatives of international organizations</a:t>
            </a:r>
          </a:p>
          <a:p>
            <a:pPr algn="just" marL="755753" indent="-377876" lvl="1">
              <a:lnSpc>
                <a:spcPts val="385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 Country Heads of leading airlines</a:t>
            </a:r>
          </a:p>
          <a:p>
            <a:pPr algn="just" marL="755753" indent="-377876" lvl="1">
              <a:lnSpc>
                <a:spcPts val="385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 Hotel and hospitality groups</a:t>
            </a:r>
          </a:p>
          <a:p>
            <a:pPr algn="just" marL="755753" indent="-377876" lvl="1">
              <a:lnSpc>
                <a:spcPts val="385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 International student offices</a:t>
            </a:r>
          </a:p>
          <a:p>
            <a:pPr algn="just" marL="755753" indent="-377876" lvl="1">
              <a:lnSpc>
                <a:spcPts val="385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 Education consultancy</a:t>
            </a:r>
            <a:r>
              <a:rPr lang="en-US" sz="3500">
                <a:solidFill>
                  <a:srgbClr val="FFFFFF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 institutions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24676" y="4276205"/>
            <a:ext cx="4246726" cy="617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0"/>
              </a:lnSpc>
            </a:pPr>
            <a:r>
              <a:rPr lang="en-US" b="true" sz="4400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CORPORATE GUETS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72300" y="6773662"/>
            <a:ext cx="5196749" cy="617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0"/>
              </a:lnSpc>
            </a:pPr>
            <a:r>
              <a:rPr lang="en-US" sz="4400" b="true">
                <a:solidFill>
                  <a:srgbClr val="5B777B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Regulatory Body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4226" y="7542577"/>
            <a:ext cx="7869774" cy="147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753" indent="-377876" lvl="1">
              <a:lnSpc>
                <a:spcPts val="3850"/>
              </a:lnSpc>
              <a:buFont typeface="Arial"/>
              <a:buChar char="•"/>
            </a:pPr>
            <a:r>
              <a:rPr lang="en-US" sz="3500">
                <a:solidFill>
                  <a:srgbClr val="737373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CEO of Bangladesh Tourism Board</a:t>
            </a:r>
          </a:p>
          <a:p>
            <a:pPr algn="l" marL="755753" indent="-377876" lvl="1">
              <a:lnSpc>
                <a:spcPts val="3850"/>
              </a:lnSpc>
              <a:buFont typeface="Arial"/>
              <a:buChar char="•"/>
            </a:pPr>
            <a:r>
              <a:rPr lang="en-US" sz="3500">
                <a:solidFill>
                  <a:srgbClr val="737373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 Chairman of Bangladesh Parjatan Corporation</a:t>
            </a:r>
          </a:p>
          <a:p>
            <a:pPr algn="l" marL="755753" indent="-377876" lvl="1">
              <a:lnSpc>
                <a:spcPts val="3850"/>
              </a:lnSpc>
              <a:buFont typeface="Arial"/>
              <a:buChar char="•"/>
            </a:pPr>
            <a:r>
              <a:rPr lang="en-US" sz="3500">
                <a:solidFill>
                  <a:srgbClr val="737373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Media division of</a:t>
            </a:r>
            <a:r>
              <a:rPr lang="en-US" sz="3500">
                <a:solidFill>
                  <a:srgbClr val="737373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 the Ministry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1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009412"/>
            <a:ext cx="3770767" cy="718076"/>
            <a:chOff x="0" y="0"/>
            <a:chExt cx="4144690" cy="7892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44690" cy="789284"/>
            </a:xfrm>
            <a:custGeom>
              <a:avLst/>
              <a:gdLst/>
              <a:ahLst/>
              <a:cxnLst/>
              <a:rect r="r" b="b" t="t" l="l"/>
              <a:pathLst>
                <a:path h="789284" w="4144690">
                  <a:moveTo>
                    <a:pt x="4020229" y="789283"/>
                  </a:moveTo>
                  <a:lnTo>
                    <a:pt x="124460" y="789283"/>
                  </a:lnTo>
                  <a:cubicBezTo>
                    <a:pt x="55880" y="789283"/>
                    <a:pt x="0" y="733403"/>
                    <a:pt x="0" y="66482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020230" y="0"/>
                  </a:lnTo>
                  <a:cubicBezTo>
                    <a:pt x="4088810" y="0"/>
                    <a:pt x="4144690" y="55880"/>
                    <a:pt x="4144690" y="124460"/>
                  </a:cubicBezTo>
                  <a:lnTo>
                    <a:pt x="4144690" y="664824"/>
                  </a:lnTo>
                  <a:cubicBezTo>
                    <a:pt x="4144690" y="733403"/>
                    <a:pt x="4088810" y="789284"/>
                    <a:pt x="4020230" y="7892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35749" y="2959843"/>
            <a:ext cx="3763718" cy="718076"/>
            <a:chOff x="0" y="0"/>
            <a:chExt cx="4136942" cy="78928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36942" cy="789284"/>
            </a:xfrm>
            <a:custGeom>
              <a:avLst/>
              <a:gdLst/>
              <a:ahLst/>
              <a:cxnLst/>
              <a:rect r="r" b="b" t="t" l="l"/>
              <a:pathLst>
                <a:path h="789284" w="4136942">
                  <a:moveTo>
                    <a:pt x="4012482" y="789283"/>
                  </a:moveTo>
                  <a:lnTo>
                    <a:pt x="124460" y="789283"/>
                  </a:lnTo>
                  <a:cubicBezTo>
                    <a:pt x="55880" y="789283"/>
                    <a:pt x="0" y="733403"/>
                    <a:pt x="0" y="66482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012482" y="0"/>
                  </a:lnTo>
                  <a:cubicBezTo>
                    <a:pt x="4081062" y="0"/>
                    <a:pt x="4136942" y="55880"/>
                    <a:pt x="4136942" y="124460"/>
                  </a:cubicBezTo>
                  <a:lnTo>
                    <a:pt x="4136942" y="664824"/>
                  </a:lnTo>
                  <a:cubicBezTo>
                    <a:pt x="4136942" y="733403"/>
                    <a:pt x="4081062" y="789284"/>
                    <a:pt x="4012482" y="7892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3894943"/>
            <a:ext cx="3767242" cy="735805"/>
            <a:chOff x="0" y="0"/>
            <a:chExt cx="4140816" cy="8087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40816" cy="808770"/>
            </a:xfrm>
            <a:custGeom>
              <a:avLst/>
              <a:gdLst/>
              <a:ahLst/>
              <a:cxnLst/>
              <a:rect r="r" b="b" t="t" l="l"/>
              <a:pathLst>
                <a:path h="808770" w="4140816">
                  <a:moveTo>
                    <a:pt x="4016356" y="808770"/>
                  </a:moveTo>
                  <a:lnTo>
                    <a:pt x="124460" y="808770"/>
                  </a:lnTo>
                  <a:cubicBezTo>
                    <a:pt x="55880" y="808770"/>
                    <a:pt x="0" y="752890"/>
                    <a:pt x="0" y="68431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016356" y="0"/>
                  </a:lnTo>
                  <a:cubicBezTo>
                    <a:pt x="4084936" y="0"/>
                    <a:pt x="4140816" y="55880"/>
                    <a:pt x="4140816" y="124460"/>
                  </a:cubicBezTo>
                  <a:lnTo>
                    <a:pt x="4140816" y="684310"/>
                  </a:lnTo>
                  <a:cubicBezTo>
                    <a:pt x="4140816" y="752890"/>
                    <a:pt x="4084936" y="808770"/>
                    <a:pt x="4016356" y="80877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4058993"/>
            <a:ext cx="3767242" cy="339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9"/>
              </a:lnSpc>
            </a:pPr>
            <a:r>
              <a:rPr lang="en-US" b="true" sz="2021" spc="40">
                <a:solidFill>
                  <a:srgbClr val="312D2E">
                    <a:alpha val="91765"/>
                  </a:srgbClr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On-ground Activation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35749" y="4846919"/>
            <a:ext cx="3770767" cy="718076"/>
            <a:chOff x="0" y="0"/>
            <a:chExt cx="4144690" cy="7892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44690" cy="789284"/>
            </a:xfrm>
            <a:custGeom>
              <a:avLst/>
              <a:gdLst/>
              <a:ahLst/>
              <a:cxnLst/>
              <a:rect r="r" b="b" t="t" l="l"/>
              <a:pathLst>
                <a:path h="789284" w="4144690">
                  <a:moveTo>
                    <a:pt x="4020229" y="789283"/>
                  </a:moveTo>
                  <a:lnTo>
                    <a:pt x="124460" y="789283"/>
                  </a:lnTo>
                  <a:cubicBezTo>
                    <a:pt x="55880" y="789283"/>
                    <a:pt x="0" y="733403"/>
                    <a:pt x="0" y="66482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020230" y="0"/>
                  </a:lnTo>
                  <a:cubicBezTo>
                    <a:pt x="4088810" y="0"/>
                    <a:pt x="4144690" y="55880"/>
                    <a:pt x="4144690" y="124460"/>
                  </a:cubicBezTo>
                  <a:lnTo>
                    <a:pt x="4144690" y="664824"/>
                  </a:lnTo>
                  <a:cubicBezTo>
                    <a:pt x="4144690" y="733403"/>
                    <a:pt x="4088810" y="789284"/>
                    <a:pt x="4020230" y="7892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42798" y="5784070"/>
            <a:ext cx="3763718" cy="718076"/>
            <a:chOff x="0" y="0"/>
            <a:chExt cx="4136942" cy="7892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36942" cy="789284"/>
            </a:xfrm>
            <a:custGeom>
              <a:avLst/>
              <a:gdLst/>
              <a:ahLst/>
              <a:cxnLst/>
              <a:rect r="r" b="b" t="t" l="l"/>
              <a:pathLst>
                <a:path h="789284" w="4136942">
                  <a:moveTo>
                    <a:pt x="4012482" y="789283"/>
                  </a:moveTo>
                  <a:lnTo>
                    <a:pt x="124460" y="789283"/>
                  </a:lnTo>
                  <a:cubicBezTo>
                    <a:pt x="55880" y="789283"/>
                    <a:pt x="0" y="733403"/>
                    <a:pt x="0" y="66482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012482" y="0"/>
                  </a:lnTo>
                  <a:cubicBezTo>
                    <a:pt x="4081062" y="0"/>
                    <a:pt x="4136942" y="55880"/>
                    <a:pt x="4136942" y="124460"/>
                  </a:cubicBezTo>
                  <a:lnTo>
                    <a:pt x="4136942" y="664824"/>
                  </a:lnTo>
                  <a:cubicBezTo>
                    <a:pt x="4136942" y="733403"/>
                    <a:pt x="4081062" y="789284"/>
                    <a:pt x="4012482" y="7892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35749" y="6721221"/>
            <a:ext cx="3767242" cy="735805"/>
            <a:chOff x="0" y="0"/>
            <a:chExt cx="4140816" cy="8087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140816" cy="808770"/>
            </a:xfrm>
            <a:custGeom>
              <a:avLst/>
              <a:gdLst/>
              <a:ahLst/>
              <a:cxnLst/>
              <a:rect r="r" b="b" t="t" l="l"/>
              <a:pathLst>
                <a:path h="808770" w="4140816">
                  <a:moveTo>
                    <a:pt x="4016356" y="808770"/>
                  </a:moveTo>
                  <a:lnTo>
                    <a:pt x="124460" y="808770"/>
                  </a:lnTo>
                  <a:cubicBezTo>
                    <a:pt x="55880" y="808770"/>
                    <a:pt x="0" y="752890"/>
                    <a:pt x="0" y="68431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016356" y="0"/>
                  </a:lnTo>
                  <a:cubicBezTo>
                    <a:pt x="4084936" y="0"/>
                    <a:pt x="4140816" y="55880"/>
                    <a:pt x="4140816" y="124460"/>
                  </a:cubicBezTo>
                  <a:lnTo>
                    <a:pt x="4140816" y="684310"/>
                  </a:lnTo>
                  <a:cubicBezTo>
                    <a:pt x="4140816" y="752890"/>
                    <a:pt x="4084936" y="808770"/>
                    <a:pt x="4016356" y="80877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35749" y="6885271"/>
            <a:ext cx="3767242" cy="339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9"/>
              </a:lnSpc>
            </a:pPr>
            <a:r>
              <a:rPr lang="en-US" b="true" sz="2021" spc="-12">
                <a:solidFill>
                  <a:srgbClr val="312D2E">
                    <a:alpha val="91765"/>
                  </a:srgbClr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Iconic Photo Booth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49847" y="7673197"/>
            <a:ext cx="3763718" cy="718076"/>
            <a:chOff x="0" y="0"/>
            <a:chExt cx="4136942" cy="78928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36942" cy="789284"/>
            </a:xfrm>
            <a:custGeom>
              <a:avLst/>
              <a:gdLst/>
              <a:ahLst/>
              <a:cxnLst/>
              <a:rect r="r" b="b" t="t" l="l"/>
              <a:pathLst>
                <a:path h="789284" w="4136942">
                  <a:moveTo>
                    <a:pt x="4012482" y="789283"/>
                  </a:moveTo>
                  <a:lnTo>
                    <a:pt x="124460" y="789283"/>
                  </a:lnTo>
                  <a:cubicBezTo>
                    <a:pt x="55880" y="789283"/>
                    <a:pt x="0" y="733403"/>
                    <a:pt x="0" y="66482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012482" y="0"/>
                  </a:lnTo>
                  <a:cubicBezTo>
                    <a:pt x="4081062" y="0"/>
                    <a:pt x="4136942" y="55880"/>
                    <a:pt x="4136942" y="124460"/>
                  </a:cubicBezTo>
                  <a:lnTo>
                    <a:pt x="4136942" y="664824"/>
                  </a:lnTo>
                  <a:cubicBezTo>
                    <a:pt x="4136942" y="733403"/>
                    <a:pt x="4081062" y="789284"/>
                    <a:pt x="4012482" y="7892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42798" y="8610348"/>
            <a:ext cx="3767242" cy="735805"/>
            <a:chOff x="0" y="0"/>
            <a:chExt cx="4140816" cy="80877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40816" cy="808770"/>
            </a:xfrm>
            <a:custGeom>
              <a:avLst/>
              <a:gdLst/>
              <a:ahLst/>
              <a:cxnLst/>
              <a:rect r="r" b="b" t="t" l="l"/>
              <a:pathLst>
                <a:path h="808770" w="4140816">
                  <a:moveTo>
                    <a:pt x="4016356" y="808770"/>
                  </a:moveTo>
                  <a:lnTo>
                    <a:pt x="124460" y="808770"/>
                  </a:lnTo>
                  <a:cubicBezTo>
                    <a:pt x="55880" y="808770"/>
                    <a:pt x="0" y="752890"/>
                    <a:pt x="0" y="68431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016356" y="0"/>
                  </a:lnTo>
                  <a:cubicBezTo>
                    <a:pt x="4084936" y="0"/>
                    <a:pt x="4140816" y="55880"/>
                    <a:pt x="4140816" y="124460"/>
                  </a:cubicBezTo>
                  <a:lnTo>
                    <a:pt x="4140816" y="684310"/>
                  </a:lnTo>
                  <a:cubicBezTo>
                    <a:pt x="4140816" y="752890"/>
                    <a:pt x="4084936" y="808770"/>
                    <a:pt x="4016356" y="80877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28700" y="2173462"/>
            <a:ext cx="3770767" cy="33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2"/>
              </a:lnSpc>
            </a:pPr>
            <a:r>
              <a:rPr lang="en-US" b="true" sz="2030" spc="-12">
                <a:solidFill>
                  <a:srgbClr val="312D2E">
                    <a:alpha val="91765"/>
                  </a:srgbClr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Brand Visibility &amp; Exposure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84478" y="3136711"/>
            <a:ext cx="3059211" cy="33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2"/>
              </a:lnSpc>
            </a:pPr>
            <a:r>
              <a:rPr lang="en-US" b="true" sz="2030" spc="-12">
                <a:solidFill>
                  <a:srgbClr val="312D2E">
                    <a:alpha val="91765"/>
                  </a:srgbClr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Media &amp; Digital Coverage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2798" y="1066800"/>
            <a:ext cx="7825790" cy="554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3"/>
              </a:lnSpc>
            </a:pPr>
            <a:r>
              <a:rPr lang="en-US" b="true" sz="3921">
                <a:solidFill>
                  <a:srgbClr val="5B777B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EXPO EXPOSURE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35749" y="5010968"/>
            <a:ext cx="3770767" cy="33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2"/>
              </a:lnSpc>
            </a:pPr>
            <a:r>
              <a:rPr lang="en-US" b="true" sz="2030" spc="-12">
                <a:solidFill>
                  <a:srgbClr val="312D2E">
                    <a:alpha val="91765"/>
                  </a:srgbClr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Foreign Pavilion Sponsorship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91527" y="5960937"/>
            <a:ext cx="3059211" cy="33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2"/>
              </a:lnSpc>
            </a:pPr>
            <a:r>
              <a:rPr lang="en-US" b="true" sz="2030" spc="-12">
                <a:solidFill>
                  <a:srgbClr val="312D2E">
                    <a:alpha val="91765"/>
                  </a:srgbClr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Elite Exposure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84478" y="7828501"/>
            <a:ext cx="3230230" cy="33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2"/>
              </a:lnSpc>
            </a:pPr>
            <a:r>
              <a:rPr lang="en-US" b="true" sz="2030" spc="-12">
                <a:solidFill>
                  <a:srgbClr val="312D2E">
                    <a:alpha val="91765"/>
                  </a:srgbClr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AI/AR Travel Experience Booth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361292" y="0"/>
            <a:ext cx="9859779" cy="10798684"/>
            <a:chOff x="0" y="0"/>
            <a:chExt cx="2596814" cy="284409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596814" cy="2844098"/>
            </a:xfrm>
            <a:custGeom>
              <a:avLst/>
              <a:gdLst/>
              <a:ahLst/>
              <a:cxnLst/>
              <a:rect r="r" b="b" t="t" l="l"/>
              <a:pathLst>
                <a:path h="2844098" w="2596814">
                  <a:moveTo>
                    <a:pt x="37690" y="0"/>
                  </a:moveTo>
                  <a:lnTo>
                    <a:pt x="2559124" y="0"/>
                  </a:lnTo>
                  <a:cubicBezTo>
                    <a:pt x="2579940" y="0"/>
                    <a:pt x="2596814" y="16874"/>
                    <a:pt x="2596814" y="37690"/>
                  </a:cubicBezTo>
                  <a:lnTo>
                    <a:pt x="2596814" y="2806408"/>
                  </a:lnTo>
                  <a:cubicBezTo>
                    <a:pt x="2596814" y="2827224"/>
                    <a:pt x="2579940" y="2844098"/>
                    <a:pt x="2559124" y="2844098"/>
                  </a:cubicBezTo>
                  <a:lnTo>
                    <a:pt x="37690" y="2844098"/>
                  </a:lnTo>
                  <a:cubicBezTo>
                    <a:pt x="16874" y="2844098"/>
                    <a:pt x="0" y="2827224"/>
                    <a:pt x="0" y="2806408"/>
                  </a:cubicBezTo>
                  <a:lnTo>
                    <a:pt x="0" y="37690"/>
                  </a:lnTo>
                  <a:cubicBezTo>
                    <a:pt x="0" y="16874"/>
                    <a:pt x="16874" y="0"/>
                    <a:pt x="37690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596814" cy="2882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212068" y="1996595"/>
            <a:ext cx="11832703" cy="718076"/>
            <a:chOff x="0" y="0"/>
            <a:chExt cx="13006078" cy="78928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006079" cy="789284"/>
            </a:xfrm>
            <a:custGeom>
              <a:avLst/>
              <a:gdLst/>
              <a:ahLst/>
              <a:cxnLst/>
              <a:rect r="r" b="b" t="t" l="l"/>
              <a:pathLst>
                <a:path h="789284" w="13006079">
                  <a:moveTo>
                    <a:pt x="12881618" y="789283"/>
                  </a:moveTo>
                  <a:lnTo>
                    <a:pt x="124460" y="789283"/>
                  </a:lnTo>
                  <a:cubicBezTo>
                    <a:pt x="55880" y="789283"/>
                    <a:pt x="0" y="733403"/>
                    <a:pt x="0" y="66482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2881618" y="0"/>
                  </a:lnTo>
                  <a:cubicBezTo>
                    <a:pt x="12950198" y="0"/>
                    <a:pt x="13006079" y="55880"/>
                    <a:pt x="13006079" y="124460"/>
                  </a:cubicBezTo>
                  <a:lnTo>
                    <a:pt x="13006079" y="664824"/>
                  </a:lnTo>
                  <a:cubicBezTo>
                    <a:pt x="13006079" y="733403"/>
                    <a:pt x="12950198" y="789284"/>
                    <a:pt x="12881618" y="7892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5423818" y="2044803"/>
            <a:ext cx="11412879" cy="566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6"/>
              </a:lnSpc>
            </a:pPr>
            <a:r>
              <a:rPr lang="en-US" sz="1849" spc="96">
                <a:solidFill>
                  <a:srgbClr val="312D2E">
                    <a:alpha val="91765"/>
                  </a:srgbClr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Sponsor brand name will appear in official title, theme, and tagline. Branding will be visible at main entrance, stage, LED screen, banners, festoons, backdrop, gate, and all collateral categories.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5212068" y="2959843"/>
            <a:ext cx="11832703" cy="718076"/>
            <a:chOff x="0" y="0"/>
            <a:chExt cx="13006078" cy="78928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006079" cy="789284"/>
            </a:xfrm>
            <a:custGeom>
              <a:avLst/>
              <a:gdLst/>
              <a:ahLst/>
              <a:cxnLst/>
              <a:rect r="r" b="b" t="t" l="l"/>
              <a:pathLst>
                <a:path h="789284" w="13006079">
                  <a:moveTo>
                    <a:pt x="12881618" y="789283"/>
                  </a:moveTo>
                  <a:lnTo>
                    <a:pt x="124460" y="789283"/>
                  </a:lnTo>
                  <a:cubicBezTo>
                    <a:pt x="55880" y="789283"/>
                    <a:pt x="0" y="733403"/>
                    <a:pt x="0" y="66482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2881618" y="0"/>
                  </a:lnTo>
                  <a:cubicBezTo>
                    <a:pt x="12950198" y="0"/>
                    <a:pt x="13006079" y="55880"/>
                    <a:pt x="13006079" y="124460"/>
                  </a:cubicBezTo>
                  <a:lnTo>
                    <a:pt x="13006079" y="664824"/>
                  </a:lnTo>
                  <a:cubicBezTo>
                    <a:pt x="13006079" y="733403"/>
                    <a:pt x="12950198" y="789284"/>
                    <a:pt x="12881618" y="7892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5423818" y="3037756"/>
            <a:ext cx="11835482" cy="566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6"/>
              </a:lnSpc>
            </a:pPr>
            <a:r>
              <a:rPr lang="en-US" sz="1849" spc="96">
                <a:solidFill>
                  <a:srgbClr val="312D2E">
                    <a:alpha val="91765"/>
                  </a:srgbClr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Coverage in TV, newspapers, and mass media. Brand exposure in fair awards ceremony live streaming. Inclusion in social media posts, reels, short videos, talk shows, and press releases.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5213906" y="3894943"/>
            <a:ext cx="11832703" cy="718076"/>
            <a:chOff x="0" y="0"/>
            <a:chExt cx="13006078" cy="78928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006079" cy="789284"/>
            </a:xfrm>
            <a:custGeom>
              <a:avLst/>
              <a:gdLst/>
              <a:ahLst/>
              <a:cxnLst/>
              <a:rect r="r" b="b" t="t" l="l"/>
              <a:pathLst>
                <a:path h="789284" w="13006079">
                  <a:moveTo>
                    <a:pt x="12881618" y="789283"/>
                  </a:moveTo>
                  <a:lnTo>
                    <a:pt x="124460" y="789283"/>
                  </a:lnTo>
                  <a:cubicBezTo>
                    <a:pt x="55880" y="789283"/>
                    <a:pt x="0" y="733403"/>
                    <a:pt x="0" y="66482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2881618" y="0"/>
                  </a:lnTo>
                  <a:cubicBezTo>
                    <a:pt x="12950198" y="0"/>
                    <a:pt x="13006079" y="55880"/>
                    <a:pt x="13006079" y="124460"/>
                  </a:cubicBezTo>
                  <a:lnTo>
                    <a:pt x="13006079" y="664824"/>
                  </a:lnTo>
                  <a:cubicBezTo>
                    <a:pt x="13006079" y="733403"/>
                    <a:pt x="12950198" y="789284"/>
                    <a:pt x="12881618" y="7892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5416131" y="3980268"/>
            <a:ext cx="11619116" cy="566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6"/>
              </a:lnSpc>
            </a:pPr>
            <a:r>
              <a:rPr lang="en-US" sz="1849" spc="96">
                <a:solidFill>
                  <a:srgbClr val="312D2E">
                    <a:alpha val="91765"/>
                  </a:srgbClr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Opportunity for premium location brand stall, product &amp; service live demonstration, special offers, discount &amp; campaign activation. Customer data collection and lead generation opportunity.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5213906" y="4858192"/>
            <a:ext cx="11832703" cy="718076"/>
            <a:chOff x="0" y="0"/>
            <a:chExt cx="13006078" cy="78928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3006079" cy="789284"/>
            </a:xfrm>
            <a:custGeom>
              <a:avLst/>
              <a:gdLst/>
              <a:ahLst/>
              <a:cxnLst/>
              <a:rect r="r" b="b" t="t" l="l"/>
              <a:pathLst>
                <a:path h="789284" w="13006079">
                  <a:moveTo>
                    <a:pt x="12881618" y="789283"/>
                  </a:moveTo>
                  <a:lnTo>
                    <a:pt x="124460" y="789283"/>
                  </a:lnTo>
                  <a:cubicBezTo>
                    <a:pt x="55880" y="789283"/>
                    <a:pt x="0" y="733403"/>
                    <a:pt x="0" y="66482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2881618" y="0"/>
                  </a:lnTo>
                  <a:cubicBezTo>
                    <a:pt x="12950198" y="0"/>
                    <a:pt x="13006079" y="55880"/>
                    <a:pt x="13006079" y="124460"/>
                  </a:cubicBezTo>
                  <a:lnTo>
                    <a:pt x="13006079" y="664824"/>
                  </a:lnTo>
                  <a:cubicBezTo>
                    <a:pt x="13006079" y="733403"/>
                    <a:pt x="12950198" y="789284"/>
                    <a:pt x="12881618" y="7892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5416131" y="4923379"/>
            <a:ext cx="11425161" cy="566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6"/>
              </a:lnSpc>
            </a:pPr>
            <a:r>
              <a:rPr lang="en-US" sz="1849" spc="96">
                <a:solidFill>
                  <a:srgbClr val="312D2E">
                    <a:alpha val="91765"/>
                  </a:srgbClr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Pavilion, cultural show, food &amp; projection- everything will be branded under the sponsor. If ambassador or high officials are present, sponsor brand will get direct diplomatic exposure.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5214825" y="5795343"/>
            <a:ext cx="11832703" cy="718076"/>
            <a:chOff x="0" y="0"/>
            <a:chExt cx="13006078" cy="78928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006079" cy="789284"/>
            </a:xfrm>
            <a:custGeom>
              <a:avLst/>
              <a:gdLst/>
              <a:ahLst/>
              <a:cxnLst/>
              <a:rect r="r" b="b" t="t" l="l"/>
              <a:pathLst>
                <a:path h="789284" w="13006079">
                  <a:moveTo>
                    <a:pt x="12881618" y="789283"/>
                  </a:moveTo>
                  <a:lnTo>
                    <a:pt x="124460" y="789283"/>
                  </a:lnTo>
                  <a:cubicBezTo>
                    <a:pt x="55880" y="789283"/>
                    <a:pt x="0" y="733403"/>
                    <a:pt x="0" y="66482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2881618" y="0"/>
                  </a:lnTo>
                  <a:cubicBezTo>
                    <a:pt x="12950198" y="0"/>
                    <a:pt x="13006079" y="55880"/>
                    <a:pt x="13006079" y="124460"/>
                  </a:cubicBezTo>
                  <a:lnTo>
                    <a:pt x="13006079" y="664824"/>
                  </a:lnTo>
                  <a:cubicBezTo>
                    <a:pt x="13006079" y="733403"/>
                    <a:pt x="12950198" y="789284"/>
                    <a:pt x="12881618" y="7892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5349955" y="5848890"/>
            <a:ext cx="11619116" cy="566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6"/>
              </a:lnSpc>
            </a:pPr>
            <a:r>
              <a:rPr lang="en-US" sz="1849" spc="96">
                <a:solidFill>
                  <a:srgbClr val="312D2E">
                    <a:alpha val="91765"/>
                  </a:srgbClr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Separate sponsor lounge for Ambassadors, Ministers, and CEO/CXOs, where catering, premium branding, and elite exposure will be ensured.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5214825" y="6758592"/>
            <a:ext cx="11832703" cy="718076"/>
            <a:chOff x="0" y="0"/>
            <a:chExt cx="13006078" cy="78928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3006079" cy="789284"/>
            </a:xfrm>
            <a:custGeom>
              <a:avLst/>
              <a:gdLst/>
              <a:ahLst/>
              <a:cxnLst/>
              <a:rect r="r" b="b" t="t" l="l"/>
              <a:pathLst>
                <a:path h="789284" w="13006079">
                  <a:moveTo>
                    <a:pt x="12881618" y="789283"/>
                  </a:moveTo>
                  <a:lnTo>
                    <a:pt x="124460" y="789283"/>
                  </a:lnTo>
                  <a:cubicBezTo>
                    <a:pt x="55880" y="789283"/>
                    <a:pt x="0" y="733403"/>
                    <a:pt x="0" y="66482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2881618" y="0"/>
                  </a:lnTo>
                  <a:cubicBezTo>
                    <a:pt x="12950198" y="0"/>
                    <a:pt x="13006079" y="55880"/>
                    <a:pt x="13006079" y="124460"/>
                  </a:cubicBezTo>
                  <a:lnTo>
                    <a:pt x="13006079" y="664824"/>
                  </a:lnTo>
                  <a:cubicBezTo>
                    <a:pt x="13006079" y="733403"/>
                    <a:pt x="12950198" y="789284"/>
                    <a:pt x="12881618" y="7892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5424737" y="6818220"/>
            <a:ext cx="11412879" cy="566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6"/>
              </a:lnSpc>
            </a:pPr>
            <a:r>
              <a:rPr lang="en-US" sz="1849" spc="96">
                <a:solidFill>
                  <a:srgbClr val="312D2E">
                    <a:alpha val="91765"/>
                  </a:srgbClr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“World in One Frame” – iconic background (Eiffel Tower, Taj Mahal, Pyramid, Great Wall, etc.). Visitors can take photos and share on social media with sponsor logo visibility.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5216663" y="7693692"/>
            <a:ext cx="11832703" cy="718076"/>
            <a:chOff x="0" y="0"/>
            <a:chExt cx="13006078" cy="78928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3006079" cy="789284"/>
            </a:xfrm>
            <a:custGeom>
              <a:avLst/>
              <a:gdLst/>
              <a:ahLst/>
              <a:cxnLst/>
              <a:rect r="r" b="b" t="t" l="l"/>
              <a:pathLst>
                <a:path h="789284" w="13006079">
                  <a:moveTo>
                    <a:pt x="12881618" y="789283"/>
                  </a:moveTo>
                  <a:lnTo>
                    <a:pt x="124460" y="789283"/>
                  </a:lnTo>
                  <a:cubicBezTo>
                    <a:pt x="55880" y="789283"/>
                    <a:pt x="0" y="733403"/>
                    <a:pt x="0" y="66482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2881618" y="0"/>
                  </a:lnTo>
                  <a:cubicBezTo>
                    <a:pt x="12950198" y="0"/>
                    <a:pt x="13006079" y="55880"/>
                    <a:pt x="13006079" y="124460"/>
                  </a:cubicBezTo>
                  <a:lnTo>
                    <a:pt x="13006079" y="664824"/>
                  </a:lnTo>
                  <a:cubicBezTo>
                    <a:pt x="13006079" y="733403"/>
                    <a:pt x="12950198" y="789284"/>
                    <a:pt x="12881618" y="7892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5428413" y="7749657"/>
            <a:ext cx="11412879" cy="566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6"/>
              </a:lnSpc>
            </a:pPr>
            <a:r>
              <a:rPr lang="en-US" sz="1849" spc="96">
                <a:solidFill>
                  <a:srgbClr val="312D2E">
                    <a:alpha val="91765"/>
                  </a:srgbClr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Virtual travel experience through AR/VR technology. Visitors can take photos in foreign locations with one click. “Your Next Destination” themed instant photo download option available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5218501" y="8659418"/>
            <a:ext cx="11832703" cy="718076"/>
            <a:chOff x="0" y="0"/>
            <a:chExt cx="13006078" cy="78928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3006079" cy="789284"/>
            </a:xfrm>
            <a:custGeom>
              <a:avLst/>
              <a:gdLst/>
              <a:ahLst/>
              <a:cxnLst/>
              <a:rect r="r" b="b" t="t" l="l"/>
              <a:pathLst>
                <a:path h="789284" w="13006079">
                  <a:moveTo>
                    <a:pt x="12881618" y="789283"/>
                  </a:moveTo>
                  <a:lnTo>
                    <a:pt x="124460" y="789283"/>
                  </a:lnTo>
                  <a:cubicBezTo>
                    <a:pt x="55880" y="789283"/>
                    <a:pt x="0" y="733403"/>
                    <a:pt x="0" y="66482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2881618" y="0"/>
                  </a:lnTo>
                  <a:cubicBezTo>
                    <a:pt x="12950198" y="0"/>
                    <a:pt x="13006079" y="55880"/>
                    <a:pt x="13006079" y="124460"/>
                  </a:cubicBezTo>
                  <a:lnTo>
                    <a:pt x="13006079" y="664824"/>
                  </a:lnTo>
                  <a:cubicBezTo>
                    <a:pt x="13006079" y="733403"/>
                    <a:pt x="12950198" y="789284"/>
                    <a:pt x="12881618" y="7892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5416131" y="8735618"/>
            <a:ext cx="11412879" cy="566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6"/>
              </a:lnSpc>
            </a:pPr>
            <a:r>
              <a:rPr lang="en-US" sz="1849" spc="96">
                <a:solidFill>
                  <a:srgbClr val="312D2E">
                    <a:alpha val="91765"/>
                  </a:srgbClr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Premium, comfortable lounge space dedicated to pre-scheduled business meetings, fostering seamless communication and deal-making between tourism companies and potential partners.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84478" y="8800848"/>
            <a:ext cx="3230230" cy="33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2"/>
              </a:lnSpc>
            </a:pPr>
            <a:r>
              <a:rPr lang="en-US" b="true" sz="2030" spc="-12">
                <a:solidFill>
                  <a:srgbClr val="312D2E">
                    <a:alpha val="91765"/>
                  </a:srgbClr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Dedicated B2B Area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0575" y="2397227"/>
            <a:ext cx="7528060" cy="6562547"/>
            <a:chOff x="0" y="0"/>
            <a:chExt cx="2035913" cy="17747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5913" cy="1774796"/>
            </a:xfrm>
            <a:custGeom>
              <a:avLst/>
              <a:gdLst/>
              <a:ahLst/>
              <a:cxnLst/>
              <a:rect r="r" b="b" t="t" l="l"/>
              <a:pathLst>
                <a:path h="1774796" w="2035913">
                  <a:moveTo>
                    <a:pt x="10284" y="0"/>
                  </a:moveTo>
                  <a:lnTo>
                    <a:pt x="2025629" y="0"/>
                  </a:lnTo>
                  <a:cubicBezTo>
                    <a:pt x="2028356" y="0"/>
                    <a:pt x="2030972" y="1083"/>
                    <a:pt x="2032901" y="3012"/>
                  </a:cubicBezTo>
                  <a:cubicBezTo>
                    <a:pt x="2034829" y="4941"/>
                    <a:pt x="2035913" y="7557"/>
                    <a:pt x="2035913" y="10284"/>
                  </a:cubicBezTo>
                  <a:lnTo>
                    <a:pt x="2035913" y="1764512"/>
                  </a:lnTo>
                  <a:cubicBezTo>
                    <a:pt x="2035913" y="1767240"/>
                    <a:pt x="2034829" y="1769856"/>
                    <a:pt x="2032901" y="1771784"/>
                  </a:cubicBezTo>
                  <a:cubicBezTo>
                    <a:pt x="2030972" y="1773713"/>
                    <a:pt x="2028356" y="1774796"/>
                    <a:pt x="2025629" y="1774796"/>
                  </a:cubicBezTo>
                  <a:lnTo>
                    <a:pt x="10284" y="1774796"/>
                  </a:lnTo>
                  <a:cubicBezTo>
                    <a:pt x="7557" y="1774796"/>
                    <a:pt x="4941" y="1773713"/>
                    <a:pt x="3012" y="1771784"/>
                  </a:cubicBezTo>
                  <a:cubicBezTo>
                    <a:pt x="1083" y="1769856"/>
                    <a:pt x="0" y="1767240"/>
                    <a:pt x="0" y="1764512"/>
                  </a:cubicBezTo>
                  <a:lnTo>
                    <a:pt x="0" y="10284"/>
                  </a:lnTo>
                  <a:cubicBezTo>
                    <a:pt x="0" y="7557"/>
                    <a:pt x="1083" y="4941"/>
                    <a:pt x="3012" y="3012"/>
                  </a:cubicBezTo>
                  <a:cubicBezTo>
                    <a:pt x="4941" y="1083"/>
                    <a:pt x="7557" y="0"/>
                    <a:pt x="10284" y="0"/>
                  </a:cubicBezTo>
                  <a:close/>
                </a:path>
              </a:pathLst>
            </a:custGeom>
            <a:ln w="9525" cap="sq">
              <a:solidFill>
                <a:srgbClr val="5CE1E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2035913" cy="17462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62616" y="2740318"/>
            <a:ext cx="3569708" cy="441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4"/>
              </a:lnSpc>
            </a:pPr>
            <a:r>
              <a:rPr lang="en-US" b="true" sz="2711">
                <a:solidFill>
                  <a:srgbClr val="333333"/>
                </a:solidFill>
                <a:latin typeface="Anek Bangla SemiCondensed Semi-Bold"/>
                <a:ea typeface="Anek Bangla SemiCondensed Semi-Bold"/>
                <a:cs typeface="Anek Bangla SemiCondensed Semi-Bold"/>
                <a:sym typeface="Anek Bangla SemiCondensed Semi-Bold"/>
              </a:rPr>
              <a:t>TITLE SPONSOR  |  01 SLOT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67177" y="2812288"/>
            <a:ext cx="306260" cy="306260"/>
          </a:xfrm>
          <a:custGeom>
            <a:avLst/>
            <a:gdLst/>
            <a:ahLst/>
            <a:cxnLst/>
            <a:rect r="r" b="b" t="t" l="l"/>
            <a:pathLst>
              <a:path h="306260" w="306260">
                <a:moveTo>
                  <a:pt x="0" y="0"/>
                </a:moveTo>
                <a:lnTo>
                  <a:pt x="306260" y="0"/>
                </a:lnTo>
                <a:lnTo>
                  <a:pt x="306260" y="306261"/>
                </a:lnTo>
                <a:lnTo>
                  <a:pt x="0" y="3062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756339" y="2723075"/>
            <a:ext cx="2358062" cy="484686"/>
            <a:chOff x="0" y="0"/>
            <a:chExt cx="637722" cy="131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7722" cy="131080"/>
            </a:xfrm>
            <a:custGeom>
              <a:avLst/>
              <a:gdLst/>
              <a:ahLst/>
              <a:cxnLst/>
              <a:rect r="r" b="b" t="t" l="l"/>
              <a:pathLst>
                <a:path h="131080" w="637722">
                  <a:moveTo>
                    <a:pt x="65540" y="0"/>
                  </a:moveTo>
                  <a:lnTo>
                    <a:pt x="572182" y="0"/>
                  </a:lnTo>
                  <a:cubicBezTo>
                    <a:pt x="589564" y="0"/>
                    <a:pt x="606235" y="6905"/>
                    <a:pt x="618526" y="19196"/>
                  </a:cubicBezTo>
                  <a:cubicBezTo>
                    <a:pt x="630817" y="31487"/>
                    <a:pt x="637722" y="48158"/>
                    <a:pt x="637722" y="65540"/>
                  </a:cubicBezTo>
                  <a:lnTo>
                    <a:pt x="637722" y="65540"/>
                  </a:lnTo>
                  <a:cubicBezTo>
                    <a:pt x="637722" y="82922"/>
                    <a:pt x="630817" y="99593"/>
                    <a:pt x="618526" y="111884"/>
                  </a:cubicBezTo>
                  <a:cubicBezTo>
                    <a:pt x="606235" y="124175"/>
                    <a:pt x="589564" y="131080"/>
                    <a:pt x="572182" y="131080"/>
                  </a:cubicBezTo>
                  <a:lnTo>
                    <a:pt x="65540" y="131080"/>
                  </a:lnTo>
                  <a:cubicBezTo>
                    <a:pt x="48158" y="131080"/>
                    <a:pt x="31487" y="124175"/>
                    <a:pt x="19196" y="111884"/>
                  </a:cubicBezTo>
                  <a:cubicBezTo>
                    <a:pt x="6905" y="99593"/>
                    <a:pt x="0" y="82922"/>
                    <a:pt x="0" y="65540"/>
                  </a:cubicBezTo>
                  <a:lnTo>
                    <a:pt x="0" y="65540"/>
                  </a:lnTo>
                  <a:cubicBezTo>
                    <a:pt x="0" y="48158"/>
                    <a:pt x="6905" y="31487"/>
                    <a:pt x="19196" y="19196"/>
                  </a:cubicBezTo>
                  <a:cubicBezTo>
                    <a:pt x="31487" y="6905"/>
                    <a:pt x="48158" y="0"/>
                    <a:pt x="65540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637722" cy="102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877618" y="2700468"/>
            <a:ext cx="2115506" cy="47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5"/>
              </a:lnSpc>
            </a:pPr>
            <a:r>
              <a:rPr lang="en-US" b="true" sz="2610">
                <a:solidFill>
                  <a:srgbClr val="333333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BDT  </a:t>
            </a:r>
            <a:r>
              <a:rPr lang="en-US" b="true" sz="2610">
                <a:solidFill>
                  <a:srgbClr val="333333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20,00,000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2720" y="3329271"/>
            <a:ext cx="7338765" cy="5630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8337" indent="-284169" lvl="1">
              <a:lnSpc>
                <a:spcPts val="4053"/>
              </a:lnSpc>
              <a:buFont typeface="Arial"/>
              <a:buChar char="•"/>
            </a:pPr>
            <a:r>
              <a:rPr lang="en-US" sz="2632">
                <a:solidFill>
                  <a:srgbClr val="1E1E21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Exclusive "</a:t>
            </a:r>
            <a:r>
              <a:rPr lang="en-US" b="true" sz="2632">
                <a:solidFill>
                  <a:srgbClr val="1E1E21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Presented by [Your Brand]</a:t>
            </a:r>
            <a:r>
              <a:rPr lang="en-US" sz="2632">
                <a:solidFill>
                  <a:srgbClr val="1E1E21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" positioning on all materials.</a:t>
            </a:r>
          </a:p>
          <a:p>
            <a:pPr algn="l" marL="568337" indent="-284169" lvl="1">
              <a:lnSpc>
                <a:spcPts val="4053"/>
              </a:lnSpc>
              <a:buFont typeface="Arial"/>
              <a:buChar char="•"/>
            </a:pPr>
            <a:r>
              <a:rPr lang="en-US" sz="2632">
                <a:solidFill>
                  <a:srgbClr val="1E1E21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Dominant logo visibility on all branding materials.</a:t>
            </a:r>
          </a:p>
          <a:p>
            <a:pPr algn="l" marL="568337" indent="-284169" lvl="1">
              <a:lnSpc>
                <a:spcPts val="4053"/>
              </a:lnSpc>
              <a:buFont typeface="Arial"/>
              <a:buChar char="•"/>
            </a:pPr>
            <a:r>
              <a:rPr lang="en-US" sz="2632">
                <a:solidFill>
                  <a:srgbClr val="1E1E21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Web ad placement at Nagorik Protidin for </a:t>
            </a:r>
            <a:r>
              <a:rPr lang="en-US" b="true" sz="2632">
                <a:solidFill>
                  <a:srgbClr val="1E1E21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30 days</a:t>
            </a:r>
            <a:r>
              <a:rPr lang="en-US" sz="2632">
                <a:solidFill>
                  <a:srgbClr val="1E1E21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.</a:t>
            </a:r>
          </a:p>
          <a:p>
            <a:pPr algn="l" marL="568337" indent="-284169" lvl="1">
              <a:lnSpc>
                <a:spcPts val="4053"/>
              </a:lnSpc>
              <a:buFont typeface="Arial"/>
              <a:buChar char="•"/>
            </a:pPr>
            <a:r>
              <a:rPr lang="en-US" sz="2632">
                <a:solidFill>
                  <a:srgbClr val="1E1E21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Special promotion in </a:t>
            </a:r>
            <a:r>
              <a:rPr lang="en-US" b="true" sz="2632">
                <a:solidFill>
                  <a:srgbClr val="1E1E21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ITTE Magazine.</a:t>
            </a:r>
          </a:p>
          <a:p>
            <a:pPr algn="l" marL="568337" indent="-284169" lvl="1">
              <a:lnSpc>
                <a:spcPts val="4053"/>
              </a:lnSpc>
              <a:buFont typeface="Arial"/>
              <a:buChar char="•"/>
            </a:pPr>
            <a:r>
              <a:rPr lang="en-US" sz="2632">
                <a:solidFill>
                  <a:srgbClr val="1E1E21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Present </a:t>
            </a:r>
            <a:r>
              <a:rPr lang="en-US" b="true" sz="2632">
                <a:solidFill>
                  <a:srgbClr val="1E1E21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top award on stage</a:t>
            </a:r>
            <a:r>
              <a:rPr lang="en-US" sz="2632">
                <a:solidFill>
                  <a:srgbClr val="1E1E21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 to the winner.</a:t>
            </a:r>
          </a:p>
          <a:p>
            <a:pPr algn="l" marL="568337" indent="-284169" lvl="1">
              <a:lnSpc>
                <a:spcPts val="4053"/>
              </a:lnSpc>
              <a:buFont typeface="Arial"/>
              <a:buChar char="•"/>
            </a:pPr>
            <a:r>
              <a:rPr lang="en-US" sz="2632">
                <a:solidFill>
                  <a:srgbClr val="1E1E21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Get </a:t>
            </a:r>
            <a:r>
              <a:rPr lang="en-US" b="true" sz="2632">
                <a:solidFill>
                  <a:srgbClr val="1E1E21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50 VVIP</a:t>
            </a:r>
            <a:r>
              <a:rPr lang="en-US" sz="2632">
                <a:solidFill>
                  <a:srgbClr val="1E1E21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 Invitation Cards.</a:t>
            </a:r>
          </a:p>
          <a:p>
            <a:pPr algn="l" marL="568337" indent="-284169" lvl="1">
              <a:lnSpc>
                <a:spcPts val="4053"/>
              </a:lnSpc>
              <a:buFont typeface="Arial"/>
              <a:buChar char="•"/>
            </a:pPr>
            <a:r>
              <a:rPr lang="en-US" b="true" sz="2632">
                <a:solidFill>
                  <a:srgbClr val="1E1E21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Record interviews</a:t>
            </a:r>
            <a:r>
              <a:rPr lang="en-US" sz="2632">
                <a:solidFill>
                  <a:srgbClr val="1E1E21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 on different media partners’ platforms.</a:t>
            </a:r>
          </a:p>
          <a:p>
            <a:pPr algn="l" marL="568337" indent="-284169" lvl="1">
              <a:lnSpc>
                <a:spcPts val="4053"/>
              </a:lnSpc>
              <a:buFont typeface="Arial"/>
              <a:buChar char="•"/>
            </a:pPr>
            <a:r>
              <a:rPr lang="en-US" sz="2632">
                <a:solidFill>
                  <a:srgbClr val="1E1E21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Title Sponsor booth at the venue.</a:t>
            </a:r>
          </a:p>
          <a:p>
            <a:pPr algn="just">
              <a:lnSpc>
                <a:spcPts val="4053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9144000" y="0"/>
            <a:ext cx="9539751" cy="10864938"/>
            <a:chOff x="0" y="0"/>
            <a:chExt cx="2716663" cy="309404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16663" cy="3094041"/>
            </a:xfrm>
            <a:custGeom>
              <a:avLst/>
              <a:gdLst/>
              <a:ahLst/>
              <a:cxnLst/>
              <a:rect r="r" b="b" t="t" l="l"/>
              <a:pathLst>
                <a:path h="3094041" w="2716663">
                  <a:moveTo>
                    <a:pt x="30839" y="0"/>
                  </a:moveTo>
                  <a:lnTo>
                    <a:pt x="2685825" y="0"/>
                  </a:lnTo>
                  <a:cubicBezTo>
                    <a:pt x="2694004" y="0"/>
                    <a:pt x="2701848" y="3249"/>
                    <a:pt x="2707631" y="9032"/>
                  </a:cubicBezTo>
                  <a:cubicBezTo>
                    <a:pt x="2713414" y="14816"/>
                    <a:pt x="2716663" y="22660"/>
                    <a:pt x="2716663" y="30839"/>
                  </a:cubicBezTo>
                  <a:lnTo>
                    <a:pt x="2716663" y="3063202"/>
                  </a:lnTo>
                  <a:cubicBezTo>
                    <a:pt x="2716663" y="3071381"/>
                    <a:pt x="2713414" y="3079225"/>
                    <a:pt x="2707631" y="3085008"/>
                  </a:cubicBezTo>
                  <a:cubicBezTo>
                    <a:pt x="2701848" y="3090792"/>
                    <a:pt x="2694004" y="3094041"/>
                    <a:pt x="2685825" y="3094041"/>
                  </a:cubicBezTo>
                  <a:lnTo>
                    <a:pt x="30839" y="3094041"/>
                  </a:lnTo>
                  <a:cubicBezTo>
                    <a:pt x="22660" y="3094041"/>
                    <a:pt x="14816" y="3090792"/>
                    <a:pt x="9032" y="3085008"/>
                  </a:cubicBezTo>
                  <a:cubicBezTo>
                    <a:pt x="3249" y="3079225"/>
                    <a:pt x="0" y="3071381"/>
                    <a:pt x="0" y="3063202"/>
                  </a:cubicBezTo>
                  <a:lnTo>
                    <a:pt x="0" y="30839"/>
                  </a:lnTo>
                  <a:cubicBezTo>
                    <a:pt x="0" y="22660"/>
                    <a:pt x="3249" y="14816"/>
                    <a:pt x="9032" y="9032"/>
                  </a:cubicBezTo>
                  <a:cubicBezTo>
                    <a:pt x="14816" y="3249"/>
                    <a:pt x="22660" y="0"/>
                    <a:pt x="30839" y="0"/>
                  </a:cubicBezTo>
                  <a:close/>
                </a:path>
              </a:pathLst>
            </a:custGeom>
            <a:solidFill>
              <a:srgbClr val="5CE1E6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2716663" cy="30654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362119" y="1133475"/>
            <a:ext cx="6081433" cy="61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0"/>
              </a:lnSpc>
            </a:pPr>
            <a:r>
              <a:rPr lang="en-US" b="true" sz="4600" spc="-230">
                <a:solidFill>
                  <a:srgbClr val="106861"/>
                </a:solidFill>
                <a:latin typeface="Anek Bangla SemiCondensed Semi-Bold"/>
                <a:ea typeface="Anek Bangla SemiCondensed Semi-Bold"/>
                <a:cs typeface="Anek Bangla SemiCondensed Semi-Bold"/>
                <a:sym typeface="Anek Bangla SemiCondensed Semi-Bold"/>
              </a:rPr>
              <a:t>SPONSORSHIP    </a:t>
            </a:r>
            <a:r>
              <a:rPr lang="en-US" b="true" sz="4600" spc="-230">
                <a:solidFill>
                  <a:srgbClr val="FFFFFF"/>
                </a:solidFill>
                <a:latin typeface="Anek Bangla SemiCondensed Semi-Bold"/>
                <a:ea typeface="Anek Bangla SemiCondensed Semi-Bold"/>
                <a:cs typeface="Anek Bangla SemiCondensed Semi-Bold"/>
                <a:sym typeface="Anek Bangla SemiCondensed Semi-Bold"/>
              </a:rPr>
              <a:t>OPPORTUNITIES 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211787" y="2397227"/>
            <a:ext cx="7528060" cy="6562547"/>
            <a:chOff x="0" y="0"/>
            <a:chExt cx="2035913" cy="177479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35913" cy="1774796"/>
            </a:xfrm>
            <a:custGeom>
              <a:avLst/>
              <a:gdLst/>
              <a:ahLst/>
              <a:cxnLst/>
              <a:rect r="r" b="b" t="t" l="l"/>
              <a:pathLst>
                <a:path h="1774796" w="2035913">
                  <a:moveTo>
                    <a:pt x="10284" y="0"/>
                  </a:moveTo>
                  <a:lnTo>
                    <a:pt x="2025629" y="0"/>
                  </a:lnTo>
                  <a:cubicBezTo>
                    <a:pt x="2028356" y="0"/>
                    <a:pt x="2030972" y="1083"/>
                    <a:pt x="2032901" y="3012"/>
                  </a:cubicBezTo>
                  <a:cubicBezTo>
                    <a:pt x="2034829" y="4941"/>
                    <a:pt x="2035913" y="7557"/>
                    <a:pt x="2035913" y="10284"/>
                  </a:cubicBezTo>
                  <a:lnTo>
                    <a:pt x="2035913" y="1764512"/>
                  </a:lnTo>
                  <a:cubicBezTo>
                    <a:pt x="2035913" y="1767240"/>
                    <a:pt x="2034829" y="1769856"/>
                    <a:pt x="2032901" y="1771784"/>
                  </a:cubicBezTo>
                  <a:cubicBezTo>
                    <a:pt x="2030972" y="1773713"/>
                    <a:pt x="2028356" y="1774796"/>
                    <a:pt x="2025629" y="1774796"/>
                  </a:cubicBezTo>
                  <a:lnTo>
                    <a:pt x="10284" y="1774796"/>
                  </a:lnTo>
                  <a:cubicBezTo>
                    <a:pt x="7557" y="1774796"/>
                    <a:pt x="4941" y="1773713"/>
                    <a:pt x="3012" y="1771784"/>
                  </a:cubicBezTo>
                  <a:cubicBezTo>
                    <a:pt x="1083" y="1769856"/>
                    <a:pt x="0" y="1767240"/>
                    <a:pt x="0" y="1764512"/>
                  </a:cubicBezTo>
                  <a:lnTo>
                    <a:pt x="0" y="10284"/>
                  </a:lnTo>
                  <a:cubicBezTo>
                    <a:pt x="0" y="7557"/>
                    <a:pt x="1083" y="4941"/>
                    <a:pt x="3012" y="3012"/>
                  </a:cubicBezTo>
                  <a:cubicBezTo>
                    <a:pt x="4941" y="1083"/>
                    <a:pt x="7557" y="0"/>
                    <a:pt x="10284" y="0"/>
                  </a:cubicBez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2035913" cy="17462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926853" y="2661108"/>
            <a:ext cx="3549922" cy="441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6"/>
              </a:lnSpc>
            </a:pPr>
            <a:r>
              <a:rPr lang="en-US" sz="2705" b="true">
                <a:solidFill>
                  <a:srgbClr val="FFFFFF"/>
                </a:solidFill>
                <a:latin typeface="Anek Bangla SemiCondensed Semi-Bold"/>
                <a:ea typeface="Anek Bangla SemiCondensed Semi-Bold"/>
                <a:cs typeface="Anek Bangla SemiCondensed Semi-Bold"/>
                <a:sym typeface="Anek Bangla SemiCondensed Semi-Bold"/>
              </a:rPr>
              <a:t>POWERED BY </a:t>
            </a:r>
            <a:r>
              <a:rPr lang="en-US" b="true" sz="2705">
                <a:solidFill>
                  <a:srgbClr val="FFFFFF"/>
                </a:solidFill>
                <a:latin typeface="Anek Bangla SemiCondensed Semi-Bold"/>
                <a:ea typeface="Anek Bangla SemiCondensed Semi-Bold"/>
                <a:cs typeface="Anek Bangla SemiCondensed Semi-Bold"/>
                <a:sym typeface="Anek Bangla SemiCondensed Semi-Bold"/>
              </a:rPr>
              <a:t> |  01 SLOTS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0456344" y="2738801"/>
            <a:ext cx="290849" cy="290849"/>
          </a:xfrm>
          <a:custGeom>
            <a:avLst/>
            <a:gdLst/>
            <a:ahLst/>
            <a:cxnLst/>
            <a:rect r="r" b="b" t="t" l="l"/>
            <a:pathLst>
              <a:path h="290849" w="290849">
                <a:moveTo>
                  <a:pt x="0" y="0"/>
                </a:moveTo>
                <a:lnTo>
                  <a:pt x="290849" y="0"/>
                </a:lnTo>
                <a:lnTo>
                  <a:pt x="290849" y="290850"/>
                </a:lnTo>
                <a:lnTo>
                  <a:pt x="0" y="2908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5000649" y="2665326"/>
            <a:ext cx="2344376" cy="471505"/>
            <a:chOff x="0" y="0"/>
            <a:chExt cx="3125834" cy="628673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3125834" cy="628673"/>
              <a:chOff x="0" y="0"/>
              <a:chExt cx="667615" cy="134272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67615" cy="134272"/>
              </a:xfrm>
              <a:custGeom>
                <a:avLst/>
                <a:gdLst/>
                <a:ahLst/>
                <a:cxnLst/>
                <a:rect r="r" b="b" t="t" l="l"/>
                <a:pathLst>
                  <a:path h="134272" w="667615">
                    <a:moveTo>
                      <a:pt x="67136" y="0"/>
                    </a:moveTo>
                    <a:lnTo>
                      <a:pt x="600479" y="0"/>
                    </a:lnTo>
                    <a:cubicBezTo>
                      <a:pt x="637557" y="0"/>
                      <a:pt x="667615" y="30058"/>
                      <a:pt x="667615" y="67136"/>
                    </a:cubicBezTo>
                    <a:lnTo>
                      <a:pt x="667615" y="67136"/>
                    </a:lnTo>
                    <a:cubicBezTo>
                      <a:pt x="667615" y="84941"/>
                      <a:pt x="660542" y="102018"/>
                      <a:pt x="647951" y="114608"/>
                    </a:cubicBezTo>
                    <a:cubicBezTo>
                      <a:pt x="635361" y="127199"/>
                      <a:pt x="618284" y="134272"/>
                      <a:pt x="600479" y="134272"/>
                    </a:cubicBezTo>
                    <a:lnTo>
                      <a:pt x="67136" y="134272"/>
                    </a:lnTo>
                    <a:cubicBezTo>
                      <a:pt x="30058" y="134272"/>
                      <a:pt x="0" y="104214"/>
                      <a:pt x="0" y="67136"/>
                    </a:cubicBezTo>
                    <a:lnTo>
                      <a:pt x="0" y="67136"/>
                    </a:lnTo>
                    <a:cubicBezTo>
                      <a:pt x="0" y="30058"/>
                      <a:pt x="30058" y="0"/>
                      <a:pt x="67136" y="0"/>
                    </a:cubicBezTo>
                    <a:close/>
                  </a:path>
                </a:pathLst>
              </a:custGeom>
              <a:solidFill>
                <a:srgbClr val="FFFBF4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47625"/>
                <a:ext cx="667615" cy="866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10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182305" y="-25788"/>
              <a:ext cx="2622877" cy="6040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5"/>
                </a:lnSpc>
              </a:pPr>
              <a:r>
                <a:rPr lang="en-US" b="true" sz="2610">
                  <a:solidFill>
                    <a:srgbClr val="333333"/>
                  </a:solidFill>
                  <a:latin typeface="Anek Bangla SemiCondensed Bold"/>
                  <a:ea typeface="Anek Bangla SemiCondensed Bold"/>
                  <a:cs typeface="Anek Bangla SemiCondensed Bold"/>
                  <a:sym typeface="Anek Bangla SemiCondensed Bold"/>
                </a:rPr>
                <a:t>BDT  12,0</a:t>
              </a:r>
              <a:r>
                <a:rPr lang="en-US" b="true" sz="2610">
                  <a:solidFill>
                    <a:srgbClr val="333333"/>
                  </a:solidFill>
                  <a:latin typeface="Anek Bangla SemiCondensed Bold"/>
                  <a:ea typeface="Anek Bangla SemiCondensed Bold"/>
                  <a:cs typeface="Anek Bangla SemiCondensed Bold"/>
                  <a:sym typeface="Anek Bangla SemiCondensed Bold"/>
                </a:rPr>
                <a:t>0,000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211787" y="3230432"/>
            <a:ext cx="6797277" cy="5630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0020" indent="-285010" lvl="1">
              <a:lnSpc>
                <a:spcPts val="4065"/>
              </a:lnSpc>
              <a:buFont typeface="Arial"/>
              <a:buChar char="•"/>
            </a:pPr>
            <a:r>
              <a:rPr lang="en-US" sz="2640">
                <a:solidFill>
                  <a:srgbClr val="FFFFFF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Exclusive "</a:t>
            </a:r>
            <a:r>
              <a:rPr lang="en-US" b="true" sz="2640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Powered by [Your Brand]</a:t>
            </a:r>
            <a:r>
              <a:rPr lang="en-US" sz="2640">
                <a:solidFill>
                  <a:srgbClr val="FFFFFF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" positioning on all materials.</a:t>
            </a:r>
          </a:p>
          <a:p>
            <a:pPr algn="l" marL="570020" indent="-285010" lvl="1">
              <a:lnSpc>
                <a:spcPts val="4065"/>
              </a:lnSpc>
              <a:buFont typeface="Arial"/>
              <a:buChar char="•"/>
            </a:pPr>
            <a:r>
              <a:rPr lang="en-US" sz="2640">
                <a:solidFill>
                  <a:srgbClr val="FFFFFF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Dominant logo visibility on all branding materials.</a:t>
            </a:r>
          </a:p>
          <a:p>
            <a:pPr algn="l" marL="570020" indent="-285010" lvl="1">
              <a:lnSpc>
                <a:spcPts val="4065"/>
              </a:lnSpc>
              <a:buFont typeface="Arial"/>
              <a:buChar char="•"/>
            </a:pPr>
            <a:r>
              <a:rPr lang="en-US" sz="2640">
                <a:solidFill>
                  <a:srgbClr val="FFFFFF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Web ad placement at Nagorik Protidin for </a:t>
            </a:r>
            <a:r>
              <a:rPr lang="en-US" b="true" sz="2640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15 days.</a:t>
            </a:r>
          </a:p>
          <a:p>
            <a:pPr algn="l" marL="570020" indent="-285010" lvl="1">
              <a:lnSpc>
                <a:spcPts val="4065"/>
              </a:lnSpc>
              <a:buFont typeface="Arial"/>
              <a:buChar char="•"/>
            </a:pPr>
            <a:r>
              <a:rPr lang="en-US" sz="2640">
                <a:solidFill>
                  <a:srgbClr val="FFFFFF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Promotion in </a:t>
            </a:r>
            <a:r>
              <a:rPr lang="en-US" b="true" sz="2640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ITTE Magazine.</a:t>
            </a:r>
          </a:p>
          <a:p>
            <a:pPr algn="l" marL="570020" indent="-285010" lvl="1">
              <a:lnSpc>
                <a:spcPts val="4065"/>
              </a:lnSpc>
              <a:buFont typeface="Arial"/>
              <a:buChar char="•"/>
            </a:pPr>
            <a:r>
              <a:rPr lang="en-US" sz="2640">
                <a:solidFill>
                  <a:srgbClr val="FFFFFF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Present</a:t>
            </a:r>
            <a:r>
              <a:rPr lang="en-US" b="true" sz="2640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 award on stage</a:t>
            </a:r>
            <a:r>
              <a:rPr lang="en-US" sz="2640">
                <a:solidFill>
                  <a:srgbClr val="FFFFFF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 to the winner.</a:t>
            </a:r>
          </a:p>
          <a:p>
            <a:pPr algn="l" marL="570020" indent="-285010" lvl="1">
              <a:lnSpc>
                <a:spcPts val="4065"/>
              </a:lnSpc>
              <a:buFont typeface="Arial"/>
              <a:buChar char="•"/>
            </a:pPr>
            <a:r>
              <a:rPr lang="en-US" sz="2640">
                <a:solidFill>
                  <a:srgbClr val="FFFFFF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Get</a:t>
            </a:r>
            <a:r>
              <a:rPr lang="en-US" b="true" sz="2640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 30 VVIP</a:t>
            </a:r>
            <a:r>
              <a:rPr lang="en-US" sz="2640">
                <a:solidFill>
                  <a:srgbClr val="FFFFFF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 Invitation Cards.</a:t>
            </a:r>
          </a:p>
          <a:p>
            <a:pPr algn="l" marL="570020" indent="-285010" lvl="1">
              <a:lnSpc>
                <a:spcPts val="4065"/>
              </a:lnSpc>
              <a:buFont typeface="Arial"/>
              <a:buChar char="•"/>
            </a:pPr>
            <a:r>
              <a:rPr lang="en-US" b="true" sz="2640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Record interviews</a:t>
            </a:r>
            <a:r>
              <a:rPr lang="en-US" sz="2640">
                <a:solidFill>
                  <a:srgbClr val="FFFFFF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 on different media partners’ platforms.</a:t>
            </a:r>
          </a:p>
          <a:p>
            <a:pPr algn="l" marL="570020" indent="-285010" lvl="1">
              <a:lnSpc>
                <a:spcPts val="4065"/>
              </a:lnSpc>
              <a:buFont typeface="Arial"/>
              <a:buChar char="•"/>
            </a:pPr>
            <a:r>
              <a:rPr lang="en-US" sz="2640">
                <a:solidFill>
                  <a:srgbClr val="FFFFFF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Powered By Sponsor booth at the venue.</a:t>
            </a:r>
          </a:p>
          <a:p>
            <a:pPr algn="just">
              <a:lnSpc>
                <a:spcPts val="4065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25505" y="0"/>
            <a:ext cx="9955608" cy="10911849"/>
            <a:chOff x="0" y="0"/>
            <a:chExt cx="2835088" cy="3107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5088" cy="3107400"/>
            </a:xfrm>
            <a:custGeom>
              <a:avLst/>
              <a:gdLst/>
              <a:ahLst/>
              <a:cxnLst/>
              <a:rect r="r" b="b" t="t" l="l"/>
              <a:pathLst>
                <a:path h="3107400" w="2835088">
                  <a:moveTo>
                    <a:pt x="29550" y="0"/>
                  </a:moveTo>
                  <a:lnTo>
                    <a:pt x="2805538" y="0"/>
                  </a:lnTo>
                  <a:cubicBezTo>
                    <a:pt x="2813375" y="0"/>
                    <a:pt x="2820891" y="3113"/>
                    <a:pt x="2826433" y="8655"/>
                  </a:cubicBezTo>
                  <a:cubicBezTo>
                    <a:pt x="2831975" y="14197"/>
                    <a:pt x="2835088" y="21713"/>
                    <a:pt x="2835088" y="29550"/>
                  </a:cubicBezTo>
                  <a:lnTo>
                    <a:pt x="2835088" y="3077849"/>
                  </a:lnTo>
                  <a:cubicBezTo>
                    <a:pt x="2835088" y="3085687"/>
                    <a:pt x="2831975" y="3093203"/>
                    <a:pt x="2826433" y="3098745"/>
                  </a:cubicBezTo>
                  <a:cubicBezTo>
                    <a:pt x="2820891" y="3104286"/>
                    <a:pt x="2813375" y="3107400"/>
                    <a:pt x="2805538" y="3107400"/>
                  </a:cubicBezTo>
                  <a:lnTo>
                    <a:pt x="29550" y="3107400"/>
                  </a:lnTo>
                  <a:cubicBezTo>
                    <a:pt x="21713" y="3107400"/>
                    <a:pt x="14197" y="3104286"/>
                    <a:pt x="8655" y="3098745"/>
                  </a:cubicBezTo>
                  <a:cubicBezTo>
                    <a:pt x="3113" y="3093203"/>
                    <a:pt x="0" y="3085687"/>
                    <a:pt x="0" y="3077849"/>
                  </a:cubicBezTo>
                  <a:lnTo>
                    <a:pt x="0" y="29550"/>
                  </a:lnTo>
                  <a:cubicBezTo>
                    <a:pt x="0" y="21713"/>
                    <a:pt x="3113" y="14197"/>
                    <a:pt x="8655" y="8655"/>
                  </a:cubicBezTo>
                  <a:cubicBezTo>
                    <a:pt x="14197" y="3113"/>
                    <a:pt x="21713" y="0"/>
                    <a:pt x="29550" y="0"/>
                  </a:cubicBezTo>
                  <a:close/>
                </a:path>
              </a:pathLst>
            </a:custGeom>
            <a:solidFill>
              <a:srgbClr val="5CE1E6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2835088" cy="3078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06144" y="2188356"/>
            <a:ext cx="7755751" cy="6082278"/>
            <a:chOff x="0" y="0"/>
            <a:chExt cx="2097490" cy="16449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97490" cy="1644911"/>
            </a:xfrm>
            <a:custGeom>
              <a:avLst/>
              <a:gdLst/>
              <a:ahLst/>
              <a:cxnLst/>
              <a:rect r="r" b="b" t="t" l="l"/>
              <a:pathLst>
                <a:path h="1644911" w="2097490">
                  <a:moveTo>
                    <a:pt x="9982" y="0"/>
                  </a:moveTo>
                  <a:lnTo>
                    <a:pt x="2087508" y="0"/>
                  </a:lnTo>
                  <a:cubicBezTo>
                    <a:pt x="2090156" y="0"/>
                    <a:pt x="2092695" y="1052"/>
                    <a:pt x="2094567" y="2924"/>
                  </a:cubicBezTo>
                  <a:cubicBezTo>
                    <a:pt x="2096439" y="4796"/>
                    <a:pt x="2097490" y="7335"/>
                    <a:pt x="2097490" y="9982"/>
                  </a:cubicBezTo>
                  <a:lnTo>
                    <a:pt x="2097490" y="1634929"/>
                  </a:lnTo>
                  <a:cubicBezTo>
                    <a:pt x="2097490" y="1637576"/>
                    <a:pt x="2096439" y="1640115"/>
                    <a:pt x="2094567" y="1641987"/>
                  </a:cubicBezTo>
                  <a:cubicBezTo>
                    <a:pt x="2092695" y="1643859"/>
                    <a:pt x="2090156" y="1644911"/>
                    <a:pt x="2087508" y="1644911"/>
                  </a:cubicBezTo>
                  <a:lnTo>
                    <a:pt x="9982" y="1644911"/>
                  </a:lnTo>
                  <a:cubicBezTo>
                    <a:pt x="7335" y="1644911"/>
                    <a:pt x="4796" y="1643859"/>
                    <a:pt x="2924" y="1641987"/>
                  </a:cubicBezTo>
                  <a:cubicBezTo>
                    <a:pt x="1052" y="1640115"/>
                    <a:pt x="0" y="1637576"/>
                    <a:pt x="0" y="1634929"/>
                  </a:cubicBezTo>
                  <a:lnTo>
                    <a:pt x="0" y="9982"/>
                  </a:lnTo>
                  <a:cubicBezTo>
                    <a:pt x="0" y="7335"/>
                    <a:pt x="1052" y="4796"/>
                    <a:pt x="2924" y="2924"/>
                  </a:cubicBezTo>
                  <a:cubicBezTo>
                    <a:pt x="4796" y="1052"/>
                    <a:pt x="7335" y="0"/>
                    <a:pt x="9982" y="0"/>
                  </a:cubicBezTo>
                  <a:close/>
                </a:path>
              </a:pathLst>
            </a:custGeom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2097490" cy="1616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27019" y="2638237"/>
            <a:ext cx="3390080" cy="441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8"/>
              </a:lnSpc>
            </a:pPr>
            <a:r>
              <a:rPr lang="en-US" sz="2729" b="true">
                <a:solidFill>
                  <a:srgbClr val="FFFFFF"/>
                </a:solidFill>
                <a:latin typeface="Anek Bangla SemiCondensed Semi-Bold"/>
                <a:ea typeface="Anek Bangla SemiCondensed Semi-Bold"/>
                <a:cs typeface="Anek Bangla SemiCondensed Semi-Bold"/>
                <a:sym typeface="Anek Bangla SemiCondensed Semi-Bold"/>
              </a:rPr>
              <a:t>CO-SPONSOR  |  03 SLOTS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28700" y="2713795"/>
            <a:ext cx="290849" cy="290849"/>
          </a:xfrm>
          <a:custGeom>
            <a:avLst/>
            <a:gdLst/>
            <a:ahLst/>
            <a:cxnLst/>
            <a:rect r="r" b="b" t="t" l="l"/>
            <a:pathLst>
              <a:path h="290849" w="290849">
                <a:moveTo>
                  <a:pt x="0" y="0"/>
                </a:moveTo>
                <a:lnTo>
                  <a:pt x="290849" y="0"/>
                </a:lnTo>
                <a:lnTo>
                  <a:pt x="290849" y="290850"/>
                </a:lnTo>
                <a:lnTo>
                  <a:pt x="0" y="2908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5989731" y="2619546"/>
            <a:ext cx="1955460" cy="460297"/>
            <a:chOff x="0" y="0"/>
            <a:chExt cx="556862" cy="131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56862" cy="131080"/>
            </a:xfrm>
            <a:custGeom>
              <a:avLst/>
              <a:gdLst/>
              <a:ahLst/>
              <a:cxnLst/>
              <a:rect r="r" b="b" t="t" l="l"/>
              <a:pathLst>
                <a:path h="131080" w="556862">
                  <a:moveTo>
                    <a:pt x="65540" y="0"/>
                  </a:moveTo>
                  <a:lnTo>
                    <a:pt x="491322" y="0"/>
                  </a:lnTo>
                  <a:cubicBezTo>
                    <a:pt x="508705" y="0"/>
                    <a:pt x="525375" y="6905"/>
                    <a:pt x="537666" y="19196"/>
                  </a:cubicBezTo>
                  <a:cubicBezTo>
                    <a:pt x="549957" y="31487"/>
                    <a:pt x="556862" y="48158"/>
                    <a:pt x="556862" y="65540"/>
                  </a:cubicBezTo>
                  <a:lnTo>
                    <a:pt x="556862" y="65540"/>
                  </a:lnTo>
                  <a:cubicBezTo>
                    <a:pt x="556862" y="82922"/>
                    <a:pt x="549957" y="99593"/>
                    <a:pt x="537666" y="111884"/>
                  </a:cubicBezTo>
                  <a:cubicBezTo>
                    <a:pt x="525375" y="124175"/>
                    <a:pt x="508705" y="131080"/>
                    <a:pt x="491322" y="131080"/>
                  </a:cubicBezTo>
                  <a:lnTo>
                    <a:pt x="65540" y="131080"/>
                  </a:lnTo>
                  <a:cubicBezTo>
                    <a:pt x="48158" y="131080"/>
                    <a:pt x="31487" y="124175"/>
                    <a:pt x="19196" y="111884"/>
                  </a:cubicBezTo>
                  <a:cubicBezTo>
                    <a:pt x="6905" y="99593"/>
                    <a:pt x="0" y="82922"/>
                    <a:pt x="0" y="65540"/>
                  </a:cubicBezTo>
                  <a:lnTo>
                    <a:pt x="0" y="65540"/>
                  </a:lnTo>
                  <a:cubicBezTo>
                    <a:pt x="0" y="48158"/>
                    <a:pt x="6905" y="31487"/>
                    <a:pt x="19196" y="19196"/>
                  </a:cubicBezTo>
                  <a:cubicBezTo>
                    <a:pt x="31487" y="6905"/>
                    <a:pt x="48158" y="0"/>
                    <a:pt x="65540" y="0"/>
                  </a:cubicBezTo>
                  <a:close/>
                </a:path>
              </a:pathLst>
            </a:custGeom>
            <a:solidFill>
              <a:srgbClr val="FFFBF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556862" cy="102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060050" y="2585458"/>
            <a:ext cx="1814821" cy="471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45"/>
              </a:lnSpc>
            </a:pPr>
            <a:r>
              <a:rPr lang="en-US" b="true" sz="2630">
                <a:solidFill>
                  <a:srgbClr val="333333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BDT 800,000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8831" y="3183344"/>
            <a:ext cx="7470377" cy="4601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818" indent="-283909" lvl="1">
              <a:lnSpc>
                <a:spcPts val="4050"/>
              </a:lnSpc>
              <a:buFont typeface="Arial"/>
              <a:buChar char="•"/>
            </a:pPr>
            <a:r>
              <a:rPr lang="en-US" b="true" sz="2630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Co-Sponsor</a:t>
            </a:r>
            <a:r>
              <a:rPr lang="en-US" b="true" sz="2630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 [Your Brand]</a:t>
            </a:r>
            <a:r>
              <a:rPr lang="en-US" sz="2630">
                <a:solidFill>
                  <a:srgbClr val="FFFFFF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" positioning on all important materials.</a:t>
            </a:r>
          </a:p>
          <a:p>
            <a:pPr algn="l" marL="567818" indent="-283909" lvl="1">
              <a:lnSpc>
                <a:spcPts val="4050"/>
              </a:lnSpc>
              <a:buFont typeface="Arial"/>
              <a:buChar char="•"/>
            </a:pPr>
            <a:r>
              <a:rPr lang="en-US" sz="2630">
                <a:solidFill>
                  <a:srgbClr val="FFFFFF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Web ad placement at Nagorik Protidin for </a:t>
            </a:r>
            <a:r>
              <a:rPr lang="en-US" b="true" sz="2630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10 days.</a:t>
            </a:r>
          </a:p>
          <a:p>
            <a:pPr algn="l" marL="567818" indent="-283909" lvl="1">
              <a:lnSpc>
                <a:spcPts val="4050"/>
              </a:lnSpc>
              <a:buFont typeface="Arial"/>
              <a:buChar char="•"/>
            </a:pPr>
            <a:r>
              <a:rPr lang="en-US" sz="2630">
                <a:solidFill>
                  <a:srgbClr val="FFFFFF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Promotion in </a:t>
            </a:r>
            <a:r>
              <a:rPr lang="en-US" b="true" sz="2630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ITTE Magazine.</a:t>
            </a:r>
          </a:p>
          <a:p>
            <a:pPr algn="l" marL="567818" indent="-283909" lvl="1">
              <a:lnSpc>
                <a:spcPts val="4050"/>
              </a:lnSpc>
              <a:buFont typeface="Arial"/>
              <a:buChar char="•"/>
            </a:pPr>
            <a:r>
              <a:rPr lang="en-US" sz="2630">
                <a:solidFill>
                  <a:srgbClr val="FFFFFF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Present</a:t>
            </a:r>
            <a:r>
              <a:rPr lang="en-US" b="true" sz="2630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 award on stage</a:t>
            </a:r>
            <a:r>
              <a:rPr lang="en-US" sz="2630">
                <a:solidFill>
                  <a:srgbClr val="FFFFFF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 to category winner.</a:t>
            </a:r>
          </a:p>
          <a:p>
            <a:pPr algn="l" marL="567818" indent="-283909" lvl="1">
              <a:lnSpc>
                <a:spcPts val="4050"/>
              </a:lnSpc>
              <a:buFont typeface="Arial"/>
              <a:buChar char="•"/>
            </a:pPr>
            <a:r>
              <a:rPr lang="en-US" sz="2630">
                <a:solidFill>
                  <a:srgbClr val="FFFFFF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Get </a:t>
            </a:r>
            <a:r>
              <a:rPr lang="en-US" b="true" sz="2630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10 VVIP</a:t>
            </a:r>
            <a:r>
              <a:rPr lang="en-US" sz="2630">
                <a:solidFill>
                  <a:srgbClr val="FFFFFF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 Invitation Cards. </a:t>
            </a:r>
          </a:p>
          <a:p>
            <a:pPr algn="l" marL="567818" indent="-283909" lvl="1">
              <a:lnSpc>
                <a:spcPts val="4050"/>
              </a:lnSpc>
              <a:buFont typeface="Arial"/>
              <a:buChar char="•"/>
            </a:pPr>
            <a:r>
              <a:rPr lang="en-US" b="true" sz="2630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Record interviews</a:t>
            </a:r>
            <a:r>
              <a:rPr lang="en-US" sz="2630">
                <a:solidFill>
                  <a:srgbClr val="FFFFFF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 on different media partners’ platforms.</a:t>
            </a:r>
          </a:p>
          <a:p>
            <a:pPr algn="l" marL="567818" indent="-283909" lvl="1">
              <a:lnSpc>
                <a:spcPts val="4050"/>
              </a:lnSpc>
              <a:buFont typeface="Arial"/>
              <a:buChar char="•"/>
            </a:pPr>
            <a:r>
              <a:rPr lang="en-US" sz="2630">
                <a:solidFill>
                  <a:srgbClr val="FFFFFF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Co-Sponsor booth at the venue.</a:t>
            </a:r>
          </a:p>
          <a:p>
            <a:pPr algn="just">
              <a:lnSpc>
                <a:spcPts val="4050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9381998" y="2188356"/>
            <a:ext cx="7755751" cy="6082278"/>
            <a:chOff x="0" y="0"/>
            <a:chExt cx="2097490" cy="164491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97490" cy="1644911"/>
            </a:xfrm>
            <a:custGeom>
              <a:avLst/>
              <a:gdLst/>
              <a:ahLst/>
              <a:cxnLst/>
              <a:rect r="r" b="b" t="t" l="l"/>
              <a:pathLst>
                <a:path h="1644911" w="2097490">
                  <a:moveTo>
                    <a:pt x="9982" y="0"/>
                  </a:moveTo>
                  <a:lnTo>
                    <a:pt x="2087508" y="0"/>
                  </a:lnTo>
                  <a:cubicBezTo>
                    <a:pt x="2090156" y="0"/>
                    <a:pt x="2092695" y="1052"/>
                    <a:pt x="2094567" y="2924"/>
                  </a:cubicBezTo>
                  <a:cubicBezTo>
                    <a:pt x="2096439" y="4796"/>
                    <a:pt x="2097490" y="7335"/>
                    <a:pt x="2097490" y="9982"/>
                  </a:cubicBezTo>
                  <a:lnTo>
                    <a:pt x="2097490" y="1634929"/>
                  </a:lnTo>
                  <a:cubicBezTo>
                    <a:pt x="2097490" y="1637576"/>
                    <a:pt x="2096439" y="1640115"/>
                    <a:pt x="2094567" y="1641987"/>
                  </a:cubicBezTo>
                  <a:cubicBezTo>
                    <a:pt x="2092695" y="1643859"/>
                    <a:pt x="2090156" y="1644911"/>
                    <a:pt x="2087508" y="1644911"/>
                  </a:cubicBezTo>
                  <a:lnTo>
                    <a:pt x="9982" y="1644911"/>
                  </a:lnTo>
                  <a:cubicBezTo>
                    <a:pt x="7335" y="1644911"/>
                    <a:pt x="4796" y="1643859"/>
                    <a:pt x="2924" y="1641987"/>
                  </a:cubicBezTo>
                  <a:cubicBezTo>
                    <a:pt x="1052" y="1640115"/>
                    <a:pt x="0" y="1637576"/>
                    <a:pt x="0" y="1634929"/>
                  </a:cubicBezTo>
                  <a:lnTo>
                    <a:pt x="0" y="9982"/>
                  </a:lnTo>
                  <a:cubicBezTo>
                    <a:pt x="0" y="7335"/>
                    <a:pt x="1052" y="4796"/>
                    <a:pt x="2924" y="2924"/>
                  </a:cubicBezTo>
                  <a:cubicBezTo>
                    <a:pt x="4796" y="1052"/>
                    <a:pt x="7335" y="0"/>
                    <a:pt x="9982" y="0"/>
                  </a:cubicBezTo>
                  <a:close/>
                </a:path>
              </a:pathLst>
            </a:custGeom>
            <a:ln w="19050" cap="sq">
              <a:solidFill>
                <a:srgbClr val="5CE1E6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2097490" cy="1616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02442" y="2632028"/>
            <a:ext cx="3448204" cy="441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3"/>
              </a:lnSpc>
            </a:pPr>
            <a:r>
              <a:rPr lang="en-US" sz="2710" b="true">
                <a:solidFill>
                  <a:srgbClr val="333333"/>
                </a:solidFill>
                <a:latin typeface="Anek Bangla SemiCondensed Semi-Bold"/>
                <a:ea typeface="Anek Bangla SemiCondensed Semi-Bold"/>
                <a:cs typeface="Anek Bangla SemiCondensed Semi-Bold"/>
                <a:sym typeface="Anek Bangla SemiCondensed Semi-Bold"/>
              </a:rPr>
              <a:t>PARTNERS  |  07 SLOTS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4805792" y="2585405"/>
            <a:ext cx="1814821" cy="460297"/>
            <a:chOff x="0" y="0"/>
            <a:chExt cx="516812" cy="1310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16812" cy="131080"/>
            </a:xfrm>
            <a:custGeom>
              <a:avLst/>
              <a:gdLst/>
              <a:ahLst/>
              <a:cxnLst/>
              <a:rect r="r" b="b" t="t" l="l"/>
              <a:pathLst>
                <a:path h="131080" w="516812">
                  <a:moveTo>
                    <a:pt x="65540" y="0"/>
                  </a:moveTo>
                  <a:lnTo>
                    <a:pt x="451272" y="0"/>
                  </a:lnTo>
                  <a:cubicBezTo>
                    <a:pt x="468654" y="0"/>
                    <a:pt x="485325" y="6905"/>
                    <a:pt x="497616" y="19196"/>
                  </a:cubicBezTo>
                  <a:cubicBezTo>
                    <a:pt x="509907" y="31487"/>
                    <a:pt x="516812" y="48158"/>
                    <a:pt x="516812" y="65540"/>
                  </a:cubicBezTo>
                  <a:lnTo>
                    <a:pt x="516812" y="65540"/>
                  </a:lnTo>
                  <a:cubicBezTo>
                    <a:pt x="516812" y="82922"/>
                    <a:pt x="509907" y="99593"/>
                    <a:pt x="497616" y="111884"/>
                  </a:cubicBezTo>
                  <a:cubicBezTo>
                    <a:pt x="485325" y="124175"/>
                    <a:pt x="468654" y="131080"/>
                    <a:pt x="451272" y="131080"/>
                  </a:cubicBezTo>
                  <a:lnTo>
                    <a:pt x="65540" y="131080"/>
                  </a:lnTo>
                  <a:cubicBezTo>
                    <a:pt x="48158" y="131080"/>
                    <a:pt x="31487" y="124175"/>
                    <a:pt x="19196" y="111884"/>
                  </a:cubicBezTo>
                  <a:cubicBezTo>
                    <a:pt x="6905" y="99593"/>
                    <a:pt x="0" y="82922"/>
                    <a:pt x="0" y="65540"/>
                  </a:cubicBezTo>
                  <a:lnTo>
                    <a:pt x="0" y="65540"/>
                  </a:lnTo>
                  <a:cubicBezTo>
                    <a:pt x="0" y="48158"/>
                    <a:pt x="6905" y="31487"/>
                    <a:pt x="19196" y="19196"/>
                  </a:cubicBezTo>
                  <a:cubicBezTo>
                    <a:pt x="31487" y="6905"/>
                    <a:pt x="48158" y="0"/>
                    <a:pt x="65540" y="0"/>
                  </a:cubicBezTo>
                  <a:close/>
                </a:path>
              </a:pathLst>
            </a:custGeom>
            <a:solidFill>
              <a:srgbClr val="FFFBF4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28575"/>
              <a:ext cx="516812" cy="102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805792" y="2628828"/>
            <a:ext cx="1814821" cy="460297"/>
            <a:chOff x="0" y="0"/>
            <a:chExt cx="516812" cy="131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16812" cy="131080"/>
            </a:xfrm>
            <a:custGeom>
              <a:avLst/>
              <a:gdLst/>
              <a:ahLst/>
              <a:cxnLst/>
              <a:rect r="r" b="b" t="t" l="l"/>
              <a:pathLst>
                <a:path h="131080" w="516812">
                  <a:moveTo>
                    <a:pt x="65540" y="0"/>
                  </a:moveTo>
                  <a:lnTo>
                    <a:pt x="451272" y="0"/>
                  </a:lnTo>
                  <a:cubicBezTo>
                    <a:pt x="468654" y="0"/>
                    <a:pt x="485325" y="6905"/>
                    <a:pt x="497616" y="19196"/>
                  </a:cubicBezTo>
                  <a:cubicBezTo>
                    <a:pt x="509907" y="31487"/>
                    <a:pt x="516812" y="48158"/>
                    <a:pt x="516812" y="65540"/>
                  </a:cubicBezTo>
                  <a:lnTo>
                    <a:pt x="516812" y="65540"/>
                  </a:lnTo>
                  <a:cubicBezTo>
                    <a:pt x="516812" y="82922"/>
                    <a:pt x="509907" y="99593"/>
                    <a:pt x="497616" y="111884"/>
                  </a:cubicBezTo>
                  <a:cubicBezTo>
                    <a:pt x="485325" y="124175"/>
                    <a:pt x="468654" y="131080"/>
                    <a:pt x="451272" y="131080"/>
                  </a:cubicBezTo>
                  <a:lnTo>
                    <a:pt x="65540" y="131080"/>
                  </a:lnTo>
                  <a:cubicBezTo>
                    <a:pt x="48158" y="131080"/>
                    <a:pt x="31487" y="124175"/>
                    <a:pt x="19196" y="111884"/>
                  </a:cubicBezTo>
                  <a:cubicBezTo>
                    <a:pt x="6905" y="99593"/>
                    <a:pt x="0" y="82922"/>
                    <a:pt x="0" y="65540"/>
                  </a:cubicBezTo>
                  <a:lnTo>
                    <a:pt x="0" y="65540"/>
                  </a:lnTo>
                  <a:cubicBezTo>
                    <a:pt x="0" y="48158"/>
                    <a:pt x="6905" y="31487"/>
                    <a:pt x="19196" y="19196"/>
                  </a:cubicBezTo>
                  <a:cubicBezTo>
                    <a:pt x="31487" y="6905"/>
                    <a:pt x="48158" y="0"/>
                    <a:pt x="65540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28575"/>
              <a:ext cx="516812" cy="102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4805792" y="2584914"/>
            <a:ext cx="1814821" cy="471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b="true" sz="2613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BDT 500,000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54051" y="3183344"/>
            <a:ext cx="7425057" cy="4516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3499" indent="-281750" lvl="1">
              <a:lnSpc>
                <a:spcPts val="4019"/>
              </a:lnSpc>
              <a:buFont typeface="Arial"/>
              <a:buChar char="•"/>
            </a:pPr>
            <a:r>
              <a:rPr lang="en-US" sz="2610">
                <a:solidFill>
                  <a:srgbClr val="1E1E21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"</a:t>
            </a:r>
            <a:r>
              <a:rPr lang="en-US" b="true" sz="2610">
                <a:solidFill>
                  <a:srgbClr val="1E1E21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Partner [Your Brand]</a:t>
            </a:r>
            <a:r>
              <a:rPr lang="en-US" sz="2610">
                <a:solidFill>
                  <a:srgbClr val="1E1E21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" positioning on all important materials.</a:t>
            </a:r>
          </a:p>
          <a:p>
            <a:pPr algn="l" marL="563499" indent="-281750" lvl="1">
              <a:lnSpc>
                <a:spcPts val="4019"/>
              </a:lnSpc>
              <a:buFont typeface="Arial"/>
              <a:buChar char="•"/>
            </a:pPr>
            <a:r>
              <a:rPr lang="en-US" sz="2610">
                <a:solidFill>
                  <a:srgbClr val="1E1E21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Web ad placement at Nagorik Protidin for </a:t>
            </a:r>
            <a:r>
              <a:rPr lang="en-US" b="true" sz="2610">
                <a:solidFill>
                  <a:srgbClr val="1E1E21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05 days.</a:t>
            </a:r>
          </a:p>
          <a:p>
            <a:pPr algn="l" marL="563499" indent="-281750" lvl="1">
              <a:lnSpc>
                <a:spcPts val="4019"/>
              </a:lnSpc>
              <a:buFont typeface="Arial"/>
              <a:buChar char="•"/>
            </a:pPr>
            <a:r>
              <a:rPr lang="en-US" sz="2610">
                <a:solidFill>
                  <a:srgbClr val="1E1E21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Promotion in </a:t>
            </a:r>
            <a:r>
              <a:rPr lang="en-US" b="true" sz="2610">
                <a:solidFill>
                  <a:srgbClr val="1E1E21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ITTE Magazine.</a:t>
            </a:r>
          </a:p>
          <a:p>
            <a:pPr algn="l" marL="563499" indent="-281750" lvl="1">
              <a:lnSpc>
                <a:spcPts val="4019"/>
              </a:lnSpc>
              <a:buFont typeface="Arial"/>
              <a:buChar char="•"/>
            </a:pPr>
            <a:r>
              <a:rPr lang="en-US" sz="2610">
                <a:solidFill>
                  <a:srgbClr val="1E1E21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Present </a:t>
            </a:r>
            <a:r>
              <a:rPr lang="en-US" b="true" sz="2610">
                <a:solidFill>
                  <a:srgbClr val="1E1E21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award on stage</a:t>
            </a:r>
            <a:r>
              <a:rPr lang="en-US" sz="2610">
                <a:solidFill>
                  <a:srgbClr val="1E1E21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 to category winner.</a:t>
            </a:r>
          </a:p>
          <a:p>
            <a:pPr algn="l" marL="563499" indent="-281750" lvl="1">
              <a:lnSpc>
                <a:spcPts val="4019"/>
              </a:lnSpc>
              <a:buFont typeface="Arial"/>
              <a:buChar char="•"/>
            </a:pPr>
            <a:r>
              <a:rPr lang="en-US" sz="2610">
                <a:solidFill>
                  <a:srgbClr val="1E1E21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Get </a:t>
            </a:r>
            <a:r>
              <a:rPr lang="en-US" b="true" sz="2610">
                <a:solidFill>
                  <a:srgbClr val="1E1E21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05 VVIP</a:t>
            </a:r>
            <a:r>
              <a:rPr lang="en-US" sz="2610">
                <a:solidFill>
                  <a:srgbClr val="1E1E21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 Invitation Cards.</a:t>
            </a:r>
          </a:p>
          <a:p>
            <a:pPr algn="l" marL="563499" indent="-281750" lvl="1">
              <a:lnSpc>
                <a:spcPts val="4019"/>
              </a:lnSpc>
              <a:buFont typeface="Arial"/>
              <a:buChar char="•"/>
            </a:pPr>
            <a:r>
              <a:rPr lang="en-US" b="true" sz="2610">
                <a:solidFill>
                  <a:srgbClr val="1E1E21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Record interviews</a:t>
            </a:r>
            <a:r>
              <a:rPr lang="en-US" sz="2610">
                <a:solidFill>
                  <a:srgbClr val="1E1E21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 on different media partners’ platforms.</a:t>
            </a:r>
          </a:p>
          <a:p>
            <a:pPr algn="l" marL="563499" indent="-281750" lvl="1">
              <a:lnSpc>
                <a:spcPts val="4019"/>
              </a:lnSpc>
              <a:buFont typeface="Arial"/>
              <a:buChar char="•"/>
            </a:pPr>
            <a:r>
              <a:rPr lang="en-US" sz="2610">
                <a:solidFill>
                  <a:srgbClr val="1E1E21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Partners’ booth at the venue.</a:t>
            </a:r>
          </a:p>
          <a:p>
            <a:pPr algn="just">
              <a:lnSpc>
                <a:spcPts val="4019"/>
              </a:lnSpc>
            </a:pP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9716021" y="2670128"/>
            <a:ext cx="290849" cy="290849"/>
          </a:xfrm>
          <a:custGeom>
            <a:avLst/>
            <a:gdLst/>
            <a:ahLst/>
            <a:cxnLst/>
            <a:rect r="r" b="b" t="t" l="l"/>
            <a:pathLst>
              <a:path h="290849" w="290849">
                <a:moveTo>
                  <a:pt x="0" y="0"/>
                </a:moveTo>
                <a:lnTo>
                  <a:pt x="290850" y="0"/>
                </a:lnTo>
                <a:lnTo>
                  <a:pt x="290850" y="290850"/>
                </a:lnTo>
                <a:lnTo>
                  <a:pt x="0" y="2908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358576"/>
            <a:ext cx="7942229" cy="3205048"/>
            <a:chOff x="0" y="0"/>
            <a:chExt cx="2147922" cy="8667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7922" cy="866783"/>
            </a:xfrm>
            <a:custGeom>
              <a:avLst/>
              <a:gdLst/>
              <a:ahLst/>
              <a:cxnLst/>
              <a:rect r="r" b="b" t="t" l="l"/>
              <a:pathLst>
                <a:path h="866783" w="2147922">
                  <a:moveTo>
                    <a:pt x="9748" y="0"/>
                  </a:moveTo>
                  <a:lnTo>
                    <a:pt x="2138174" y="0"/>
                  </a:lnTo>
                  <a:cubicBezTo>
                    <a:pt x="2143558" y="0"/>
                    <a:pt x="2147922" y="4364"/>
                    <a:pt x="2147922" y="9748"/>
                  </a:cubicBezTo>
                  <a:lnTo>
                    <a:pt x="2147922" y="857036"/>
                  </a:lnTo>
                  <a:cubicBezTo>
                    <a:pt x="2147922" y="859621"/>
                    <a:pt x="2146895" y="862100"/>
                    <a:pt x="2145067" y="863928"/>
                  </a:cubicBezTo>
                  <a:cubicBezTo>
                    <a:pt x="2143239" y="865756"/>
                    <a:pt x="2140759" y="866783"/>
                    <a:pt x="2138174" y="866783"/>
                  </a:cubicBezTo>
                  <a:lnTo>
                    <a:pt x="9748" y="866783"/>
                  </a:lnTo>
                  <a:cubicBezTo>
                    <a:pt x="7163" y="866783"/>
                    <a:pt x="4683" y="865756"/>
                    <a:pt x="2855" y="863928"/>
                  </a:cubicBezTo>
                  <a:cubicBezTo>
                    <a:pt x="1027" y="862100"/>
                    <a:pt x="0" y="859621"/>
                    <a:pt x="0" y="857036"/>
                  </a:cubicBezTo>
                  <a:lnTo>
                    <a:pt x="0" y="9748"/>
                  </a:lnTo>
                  <a:cubicBezTo>
                    <a:pt x="0" y="7163"/>
                    <a:pt x="1027" y="4683"/>
                    <a:pt x="2855" y="2855"/>
                  </a:cubicBezTo>
                  <a:cubicBezTo>
                    <a:pt x="4683" y="1027"/>
                    <a:pt x="7163" y="0"/>
                    <a:pt x="9748" y="0"/>
                  </a:cubicBezTo>
                  <a:close/>
                </a:path>
              </a:pathLst>
            </a:custGeom>
            <a:ln w="19050" cap="sq">
              <a:solidFill>
                <a:srgbClr val="5CE1E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2147922" cy="838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330280" y="0"/>
            <a:ext cx="10764415" cy="10911849"/>
            <a:chOff x="0" y="0"/>
            <a:chExt cx="3065414" cy="3107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065414" cy="3107400"/>
            </a:xfrm>
            <a:custGeom>
              <a:avLst/>
              <a:gdLst/>
              <a:ahLst/>
              <a:cxnLst/>
              <a:rect r="r" b="b" t="t" l="l"/>
              <a:pathLst>
                <a:path h="3107400" w="3065414">
                  <a:moveTo>
                    <a:pt x="32365" y="0"/>
                  </a:moveTo>
                  <a:lnTo>
                    <a:pt x="3033050" y="0"/>
                  </a:lnTo>
                  <a:cubicBezTo>
                    <a:pt x="3041634" y="0"/>
                    <a:pt x="3049866" y="3410"/>
                    <a:pt x="3055935" y="9479"/>
                  </a:cubicBezTo>
                  <a:cubicBezTo>
                    <a:pt x="3062005" y="15549"/>
                    <a:pt x="3065414" y="23781"/>
                    <a:pt x="3065414" y="32365"/>
                  </a:cubicBezTo>
                  <a:lnTo>
                    <a:pt x="3065414" y="3075035"/>
                  </a:lnTo>
                  <a:cubicBezTo>
                    <a:pt x="3065414" y="3083619"/>
                    <a:pt x="3062005" y="3091851"/>
                    <a:pt x="3055935" y="3097920"/>
                  </a:cubicBezTo>
                  <a:cubicBezTo>
                    <a:pt x="3049866" y="3103990"/>
                    <a:pt x="3041634" y="3107400"/>
                    <a:pt x="3033050" y="3107400"/>
                  </a:cubicBezTo>
                  <a:lnTo>
                    <a:pt x="32365" y="3107400"/>
                  </a:lnTo>
                  <a:cubicBezTo>
                    <a:pt x="23781" y="3107400"/>
                    <a:pt x="15549" y="3103990"/>
                    <a:pt x="9479" y="3097920"/>
                  </a:cubicBezTo>
                  <a:cubicBezTo>
                    <a:pt x="3410" y="3091851"/>
                    <a:pt x="0" y="3083619"/>
                    <a:pt x="0" y="3075035"/>
                  </a:cubicBezTo>
                  <a:lnTo>
                    <a:pt x="0" y="32365"/>
                  </a:lnTo>
                  <a:cubicBezTo>
                    <a:pt x="0" y="23781"/>
                    <a:pt x="3410" y="15549"/>
                    <a:pt x="9479" y="9479"/>
                  </a:cubicBezTo>
                  <a:cubicBezTo>
                    <a:pt x="15549" y="3410"/>
                    <a:pt x="23781" y="0"/>
                    <a:pt x="32365" y="0"/>
                  </a:cubicBezTo>
                  <a:close/>
                </a:path>
              </a:pathLst>
            </a:custGeom>
            <a:ln w="19050" cap="rnd">
              <a:solidFill>
                <a:srgbClr val="5CE1E6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3065414" cy="3078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06582" y="1618512"/>
            <a:ext cx="290849" cy="290849"/>
          </a:xfrm>
          <a:custGeom>
            <a:avLst/>
            <a:gdLst/>
            <a:ahLst/>
            <a:cxnLst/>
            <a:rect r="r" b="b" t="t" l="l"/>
            <a:pathLst>
              <a:path h="290849" w="290849">
                <a:moveTo>
                  <a:pt x="0" y="0"/>
                </a:moveTo>
                <a:lnTo>
                  <a:pt x="290849" y="0"/>
                </a:lnTo>
                <a:lnTo>
                  <a:pt x="290849" y="290849"/>
                </a:lnTo>
                <a:lnTo>
                  <a:pt x="0" y="2908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642392" y="1533788"/>
            <a:ext cx="1814821" cy="460297"/>
            <a:chOff x="0" y="0"/>
            <a:chExt cx="516812" cy="1310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6812" cy="131080"/>
            </a:xfrm>
            <a:custGeom>
              <a:avLst/>
              <a:gdLst/>
              <a:ahLst/>
              <a:cxnLst/>
              <a:rect r="r" b="b" t="t" l="l"/>
              <a:pathLst>
                <a:path h="131080" w="516812">
                  <a:moveTo>
                    <a:pt x="65540" y="0"/>
                  </a:moveTo>
                  <a:lnTo>
                    <a:pt x="451272" y="0"/>
                  </a:lnTo>
                  <a:cubicBezTo>
                    <a:pt x="468654" y="0"/>
                    <a:pt x="485325" y="6905"/>
                    <a:pt x="497616" y="19196"/>
                  </a:cubicBezTo>
                  <a:cubicBezTo>
                    <a:pt x="509907" y="31487"/>
                    <a:pt x="516812" y="48158"/>
                    <a:pt x="516812" y="65540"/>
                  </a:cubicBezTo>
                  <a:lnTo>
                    <a:pt x="516812" y="65540"/>
                  </a:lnTo>
                  <a:cubicBezTo>
                    <a:pt x="516812" y="82922"/>
                    <a:pt x="509907" y="99593"/>
                    <a:pt x="497616" y="111884"/>
                  </a:cubicBezTo>
                  <a:cubicBezTo>
                    <a:pt x="485325" y="124175"/>
                    <a:pt x="468654" y="131080"/>
                    <a:pt x="451272" y="131080"/>
                  </a:cubicBezTo>
                  <a:lnTo>
                    <a:pt x="65540" y="131080"/>
                  </a:lnTo>
                  <a:cubicBezTo>
                    <a:pt x="48158" y="131080"/>
                    <a:pt x="31487" y="124175"/>
                    <a:pt x="19196" y="111884"/>
                  </a:cubicBezTo>
                  <a:cubicBezTo>
                    <a:pt x="6905" y="99593"/>
                    <a:pt x="0" y="82922"/>
                    <a:pt x="0" y="65540"/>
                  </a:cubicBezTo>
                  <a:lnTo>
                    <a:pt x="0" y="65540"/>
                  </a:lnTo>
                  <a:cubicBezTo>
                    <a:pt x="0" y="48158"/>
                    <a:pt x="6905" y="31487"/>
                    <a:pt x="19196" y="19196"/>
                  </a:cubicBezTo>
                  <a:cubicBezTo>
                    <a:pt x="31487" y="6905"/>
                    <a:pt x="48158" y="0"/>
                    <a:pt x="65540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516812" cy="102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850428" y="5978964"/>
            <a:ext cx="7820559" cy="3153995"/>
            <a:chOff x="0" y="0"/>
            <a:chExt cx="2115017" cy="85297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15017" cy="852977"/>
            </a:xfrm>
            <a:custGeom>
              <a:avLst/>
              <a:gdLst/>
              <a:ahLst/>
              <a:cxnLst/>
              <a:rect r="r" b="b" t="t" l="l"/>
              <a:pathLst>
                <a:path h="852977" w="2115017">
                  <a:moveTo>
                    <a:pt x="9899" y="0"/>
                  </a:moveTo>
                  <a:lnTo>
                    <a:pt x="2105118" y="0"/>
                  </a:lnTo>
                  <a:cubicBezTo>
                    <a:pt x="2107743" y="0"/>
                    <a:pt x="2110261" y="1043"/>
                    <a:pt x="2112118" y="2899"/>
                  </a:cubicBezTo>
                  <a:cubicBezTo>
                    <a:pt x="2113974" y="4756"/>
                    <a:pt x="2115017" y="7274"/>
                    <a:pt x="2115017" y="9899"/>
                  </a:cubicBezTo>
                  <a:lnTo>
                    <a:pt x="2115017" y="843077"/>
                  </a:lnTo>
                  <a:cubicBezTo>
                    <a:pt x="2115017" y="848545"/>
                    <a:pt x="2110585" y="852977"/>
                    <a:pt x="2105118" y="852977"/>
                  </a:cubicBezTo>
                  <a:lnTo>
                    <a:pt x="9899" y="852977"/>
                  </a:lnTo>
                  <a:cubicBezTo>
                    <a:pt x="7274" y="852977"/>
                    <a:pt x="4756" y="851934"/>
                    <a:pt x="2899" y="850077"/>
                  </a:cubicBezTo>
                  <a:cubicBezTo>
                    <a:pt x="1043" y="848221"/>
                    <a:pt x="0" y="845703"/>
                    <a:pt x="0" y="843077"/>
                  </a:cubicBezTo>
                  <a:lnTo>
                    <a:pt x="0" y="9899"/>
                  </a:lnTo>
                  <a:cubicBezTo>
                    <a:pt x="0" y="7274"/>
                    <a:pt x="1043" y="4756"/>
                    <a:pt x="2899" y="2899"/>
                  </a:cubicBezTo>
                  <a:cubicBezTo>
                    <a:pt x="4756" y="1043"/>
                    <a:pt x="7274" y="0"/>
                    <a:pt x="9899" y="0"/>
                  </a:cubicBezTo>
                  <a:close/>
                </a:path>
              </a:pathLst>
            </a:custGeom>
            <a:ln w="19050" cap="sq">
              <a:solidFill>
                <a:srgbClr val="5CE1E6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2115017" cy="824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9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0107937" y="6367479"/>
            <a:ext cx="290849" cy="290849"/>
          </a:xfrm>
          <a:custGeom>
            <a:avLst/>
            <a:gdLst/>
            <a:ahLst/>
            <a:cxnLst/>
            <a:rect r="r" b="b" t="t" l="l"/>
            <a:pathLst>
              <a:path h="290849" w="290849">
                <a:moveTo>
                  <a:pt x="0" y="0"/>
                </a:moveTo>
                <a:lnTo>
                  <a:pt x="290850" y="0"/>
                </a:lnTo>
                <a:lnTo>
                  <a:pt x="290850" y="290850"/>
                </a:lnTo>
                <a:lnTo>
                  <a:pt x="0" y="2908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568009" y="-1344785"/>
            <a:ext cx="4102978" cy="2245448"/>
          </a:xfrm>
          <a:custGeom>
            <a:avLst/>
            <a:gdLst/>
            <a:ahLst/>
            <a:cxnLst/>
            <a:rect r="r" b="b" t="t" l="l"/>
            <a:pathLst>
              <a:path h="2245448" w="410297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28700" y="5143500"/>
            <a:ext cx="7572037" cy="4691521"/>
          </a:xfrm>
          <a:custGeom>
            <a:avLst/>
            <a:gdLst/>
            <a:ahLst/>
            <a:cxnLst/>
            <a:rect r="r" b="b" t="t" l="l"/>
            <a:pathLst>
              <a:path h="4691521" w="7572037">
                <a:moveTo>
                  <a:pt x="0" y="0"/>
                </a:moveTo>
                <a:lnTo>
                  <a:pt x="7572037" y="0"/>
                </a:lnTo>
                <a:lnTo>
                  <a:pt x="7572037" y="4691521"/>
                </a:lnTo>
                <a:lnTo>
                  <a:pt x="0" y="46915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1178" r="0" b="-1108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538910" y="929238"/>
            <a:ext cx="8443596" cy="4749523"/>
          </a:xfrm>
          <a:custGeom>
            <a:avLst/>
            <a:gdLst/>
            <a:ahLst/>
            <a:cxnLst/>
            <a:rect r="r" b="b" t="t" l="l"/>
            <a:pathLst>
              <a:path h="4749523" w="8443596">
                <a:moveTo>
                  <a:pt x="0" y="0"/>
                </a:moveTo>
                <a:lnTo>
                  <a:pt x="8443596" y="0"/>
                </a:lnTo>
                <a:lnTo>
                  <a:pt x="8443596" y="4749523"/>
                </a:lnTo>
                <a:lnTo>
                  <a:pt x="0" y="47495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677091" y="1515716"/>
            <a:ext cx="3549922" cy="467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2910" b="true">
                <a:solidFill>
                  <a:srgbClr val="333333"/>
                </a:solidFill>
                <a:latin typeface="Anek Bangla SemiCondensed Semi-Bold"/>
                <a:ea typeface="Anek Bangla SemiCondensed Semi-Bold"/>
                <a:cs typeface="Anek Bangla SemiCondensed Semi-Bold"/>
                <a:sym typeface="Anek Bangla SemiCondensed Semi-Bold"/>
              </a:rPr>
              <a:t>PAVILLION  </a:t>
            </a:r>
            <a:r>
              <a:rPr lang="en-US" b="true" sz="2910">
                <a:solidFill>
                  <a:srgbClr val="333333"/>
                </a:solidFill>
                <a:latin typeface="Anek Bangla SemiCondensed Semi-Bold"/>
                <a:ea typeface="Anek Bangla SemiCondensed Semi-Bold"/>
                <a:cs typeface="Anek Bangla SemiCondensed Semi-Bold"/>
                <a:sym typeface="Anek Bangla SemiCondensed Semi-Bold"/>
              </a:rPr>
              <a:t>|  04 SLOTS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11503" y="1489874"/>
            <a:ext cx="1676598" cy="47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b="true" sz="2613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BDT </a:t>
            </a:r>
            <a:r>
              <a:rPr lang="en-US" b="true" sz="2613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50,000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2243769"/>
            <a:ext cx="7572037" cy="2029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818" indent="-283909" lvl="1">
              <a:lnSpc>
                <a:spcPts val="4050"/>
              </a:lnSpc>
              <a:buFont typeface="Arial"/>
              <a:buChar char="•"/>
            </a:pPr>
            <a:r>
              <a:rPr lang="en-US" b="true" sz="2630">
                <a:solidFill>
                  <a:srgbClr val="1E1E21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128sqft </a:t>
            </a:r>
            <a:r>
              <a:rPr lang="en-US" sz="2630">
                <a:solidFill>
                  <a:srgbClr val="1E1E21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(approx.) large branded area for massive display.</a:t>
            </a:r>
          </a:p>
          <a:p>
            <a:pPr algn="l" marL="567818" indent="-283909" lvl="1">
              <a:lnSpc>
                <a:spcPts val="4050"/>
              </a:lnSpc>
              <a:buFont typeface="Arial"/>
              <a:buChar char="•"/>
            </a:pPr>
            <a:r>
              <a:rPr lang="en-US" b="true" sz="2630">
                <a:solidFill>
                  <a:srgbClr val="1E1E21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Record interviews</a:t>
            </a:r>
            <a:r>
              <a:rPr lang="en-US" sz="2630">
                <a:solidFill>
                  <a:srgbClr val="1E1E21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 on different media partners’ platforms.</a:t>
            </a:r>
          </a:p>
          <a:p>
            <a:pPr algn="l" marL="567818" indent="-283909" lvl="1">
              <a:lnSpc>
                <a:spcPts val="4050"/>
              </a:lnSpc>
              <a:buFont typeface="Arial"/>
              <a:buChar char="•"/>
            </a:pPr>
            <a:r>
              <a:rPr lang="en-US" b="true" sz="2630">
                <a:solidFill>
                  <a:srgbClr val="1E1E21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Brand mention</a:t>
            </a:r>
            <a:r>
              <a:rPr lang="en-US" sz="2630">
                <a:solidFill>
                  <a:srgbClr val="1E1E21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 on the official website &amp; exhibitor list.</a:t>
            </a:r>
          </a:p>
          <a:p>
            <a:pPr algn="just">
              <a:lnSpc>
                <a:spcPts val="4050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0712554" y="6264683"/>
            <a:ext cx="3549922" cy="467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2910" b="true">
                <a:solidFill>
                  <a:srgbClr val="333333"/>
                </a:solidFill>
                <a:latin typeface="Anek Bangla SemiCondensed Semi-Bold"/>
                <a:ea typeface="Anek Bangla SemiCondensed Semi-Bold"/>
                <a:cs typeface="Anek Bangla SemiCondensed Semi-Bold"/>
                <a:sym typeface="Anek Bangla SemiCondensed Semi-Bold"/>
              </a:rPr>
              <a:t>STALL  </a:t>
            </a:r>
            <a:r>
              <a:rPr lang="en-US" b="true" sz="2910">
                <a:solidFill>
                  <a:srgbClr val="333333"/>
                </a:solidFill>
                <a:latin typeface="Anek Bangla SemiCondensed Semi-Bold"/>
                <a:ea typeface="Anek Bangla SemiCondensed Semi-Bold"/>
                <a:cs typeface="Anek Bangla SemiCondensed Semi-Bold"/>
                <a:sym typeface="Anek Bangla SemiCondensed Semi-Bold"/>
              </a:rPr>
              <a:t>|  100 SLOTS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5463529" y="6273230"/>
            <a:ext cx="1814821" cy="460297"/>
            <a:chOff x="0" y="0"/>
            <a:chExt cx="2419762" cy="613729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2419762" cy="613729"/>
              <a:chOff x="0" y="0"/>
              <a:chExt cx="516812" cy="13108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516812" cy="131080"/>
              </a:xfrm>
              <a:custGeom>
                <a:avLst/>
                <a:gdLst/>
                <a:ahLst/>
                <a:cxnLst/>
                <a:rect r="r" b="b" t="t" l="l"/>
                <a:pathLst>
                  <a:path h="131080" w="516812">
                    <a:moveTo>
                      <a:pt x="65540" y="0"/>
                    </a:moveTo>
                    <a:lnTo>
                      <a:pt x="451272" y="0"/>
                    </a:lnTo>
                    <a:cubicBezTo>
                      <a:pt x="468654" y="0"/>
                      <a:pt x="485325" y="6905"/>
                      <a:pt x="497616" y="19196"/>
                    </a:cubicBezTo>
                    <a:cubicBezTo>
                      <a:pt x="509907" y="31487"/>
                      <a:pt x="516812" y="48158"/>
                      <a:pt x="516812" y="65540"/>
                    </a:cubicBezTo>
                    <a:lnTo>
                      <a:pt x="516812" y="65540"/>
                    </a:lnTo>
                    <a:cubicBezTo>
                      <a:pt x="516812" y="82922"/>
                      <a:pt x="509907" y="99593"/>
                      <a:pt x="497616" y="111884"/>
                    </a:cubicBezTo>
                    <a:cubicBezTo>
                      <a:pt x="485325" y="124175"/>
                      <a:pt x="468654" y="131080"/>
                      <a:pt x="451272" y="131080"/>
                    </a:cubicBezTo>
                    <a:lnTo>
                      <a:pt x="65540" y="131080"/>
                    </a:lnTo>
                    <a:cubicBezTo>
                      <a:pt x="48158" y="131080"/>
                      <a:pt x="31487" y="124175"/>
                      <a:pt x="19196" y="111884"/>
                    </a:cubicBezTo>
                    <a:cubicBezTo>
                      <a:pt x="6905" y="99593"/>
                      <a:pt x="0" y="82922"/>
                      <a:pt x="0" y="65540"/>
                    </a:cubicBezTo>
                    <a:lnTo>
                      <a:pt x="0" y="65540"/>
                    </a:lnTo>
                    <a:cubicBezTo>
                      <a:pt x="0" y="48158"/>
                      <a:pt x="6905" y="31487"/>
                      <a:pt x="19196" y="19196"/>
                    </a:cubicBezTo>
                    <a:cubicBezTo>
                      <a:pt x="31487" y="6905"/>
                      <a:pt x="48158" y="0"/>
                      <a:pt x="65540" y="0"/>
                    </a:cubicBezTo>
                    <a:close/>
                  </a:path>
                </a:pathLst>
              </a:custGeom>
              <a:solidFill>
                <a:srgbClr val="5CE1E6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28575"/>
                <a:ext cx="516812" cy="1025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39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207959" y="24065"/>
              <a:ext cx="1975173" cy="4973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00"/>
                </a:lnSpc>
              </a:pPr>
              <a:r>
                <a:rPr lang="en-US" b="true" sz="2133">
                  <a:solidFill>
                    <a:srgbClr val="FFFFFF"/>
                  </a:solidFill>
                  <a:latin typeface="Anek Bangla SemiCondensed Bold"/>
                  <a:ea typeface="Anek Bangla SemiCondensed Bold"/>
                  <a:cs typeface="Anek Bangla SemiCondensed Bold"/>
                  <a:sym typeface="Anek Bangla SemiCondensed Bold"/>
                </a:rPr>
                <a:t>BDT 35</a:t>
              </a:r>
              <a:r>
                <a:rPr lang="en-US" b="true" sz="2133">
                  <a:solidFill>
                    <a:srgbClr val="FFFFFF"/>
                  </a:solidFill>
                  <a:latin typeface="Anek Bangla SemiCondensed Bold"/>
                  <a:ea typeface="Anek Bangla SemiCondensed Bold"/>
                  <a:cs typeface="Anek Bangla SemiCondensed Bold"/>
                  <a:sym typeface="Anek Bangla SemiCondensed Bold"/>
                </a:rPr>
                <a:t>,000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9850428" y="7031692"/>
            <a:ext cx="7572037" cy="1515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818" indent="-283909" lvl="1">
              <a:lnSpc>
                <a:spcPts val="4050"/>
              </a:lnSpc>
              <a:buFont typeface="Arial"/>
              <a:buChar char="•"/>
            </a:pPr>
            <a:r>
              <a:rPr lang="en-US" b="true" sz="2630">
                <a:solidFill>
                  <a:srgbClr val="1E1E21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64 sqft </a:t>
            </a:r>
            <a:r>
              <a:rPr lang="en-US" sz="2630">
                <a:solidFill>
                  <a:srgbClr val="1E1E21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(approx.) large branded area for massive display.</a:t>
            </a:r>
          </a:p>
          <a:p>
            <a:pPr algn="l" marL="567818" indent="-283909" lvl="1">
              <a:lnSpc>
                <a:spcPts val="4050"/>
              </a:lnSpc>
              <a:buFont typeface="Arial"/>
              <a:buChar char="•"/>
            </a:pPr>
            <a:r>
              <a:rPr lang="en-US" b="true" sz="2630">
                <a:solidFill>
                  <a:srgbClr val="1E1E21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Brand mention</a:t>
            </a:r>
            <a:r>
              <a:rPr lang="en-US" sz="2630">
                <a:solidFill>
                  <a:srgbClr val="1E1E21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 on the official website &amp; exhibitor list.</a:t>
            </a:r>
          </a:p>
          <a:p>
            <a:pPr algn="just">
              <a:lnSpc>
                <a:spcPts val="4050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Upscale Image"/>
          <p:cNvSpPr/>
          <p:nvPr/>
        </p:nvSpPr>
        <p:spPr>
          <a:xfrm flipH="false" flipV="false" rot="0">
            <a:off x="1232717" y="918846"/>
            <a:ext cx="16026583" cy="8449309"/>
          </a:xfrm>
          <a:custGeom>
            <a:avLst/>
            <a:gdLst/>
            <a:ahLst/>
            <a:cxnLst/>
            <a:rect r="r" b="b" t="t" l="l"/>
            <a:pathLst>
              <a:path h="8449309" w="16026583">
                <a:moveTo>
                  <a:pt x="0" y="0"/>
                </a:moveTo>
                <a:lnTo>
                  <a:pt x="16026583" y="0"/>
                </a:lnTo>
                <a:lnTo>
                  <a:pt x="16026583" y="8449308"/>
                </a:lnTo>
                <a:lnTo>
                  <a:pt x="0" y="84493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268" r="0" b="-3268"/>
            </a:stretch>
          </a:blipFill>
          <a:ln w="19050" cap="rnd">
            <a:solidFill>
              <a:srgbClr val="FFDE59"/>
            </a:solidFill>
            <a:prstDash val="solid"/>
            <a:round/>
          </a:ln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Upscale Image"/>
          <p:cNvSpPr/>
          <p:nvPr/>
        </p:nvSpPr>
        <p:spPr>
          <a:xfrm flipH="false" flipV="false" rot="0">
            <a:off x="1370353" y="977773"/>
            <a:ext cx="15547294" cy="8331455"/>
          </a:xfrm>
          <a:custGeom>
            <a:avLst/>
            <a:gdLst/>
            <a:ahLst/>
            <a:cxnLst/>
            <a:rect r="r" b="b" t="t" l="l"/>
            <a:pathLst>
              <a:path h="8331455" w="15547294">
                <a:moveTo>
                  <a:pt x="0" y="0"/>
                </a:moveTo>
                <a:lnTo>
                  <a:pt x="15547294" y="0"/>
                </a:lnTo>
                <a:lnTo>
                  <a:pt x="15547294" y="8331454"/>
                </a:lnTo>
                <a:lnTo>
                  <a:pt x="0" y="83314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06" r="0" b="-2406"/>
            </a:stretch>
          </a:blipFill>
          <a:ln w="19050" cap="rnd">
            <a:solidFill>
              <a:srgbClr val="FFDE59"/>
            </a:solidFill>
            <a:prstDash val="solid"/>
            <a:round/>
          </a:ln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8115300" cy="5434635"/>
          </a:xfrm>
          <a:custGeom>
            <a:avLst/>
            <a:gdLst/>
            <a:ahLst/>
            <a:cxnLst/>
            <a:rect r="r" b="b" t="t" l="l"/>
            <a:pathLst>
              <a:path h="5434635" w="8115300">
                <a:moveTo>
                  <a:pt x="0" y="0"/>
                </a:moveTo>
                <a:lnTo>
                  <a:pt x="8115300" y="0"/>
                </a:lnTo>
                <a:lnTo>
                  <a:pt x="8115300" y="5434635"/>
                </a:lnTo>
                <a:lnTo>
                  <a:pt x="0" y="54346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23" t="-2629" r="-1633" b="0"/>
            </a:stretch>
          </a:blipFill>
          <a:ln w="19050" cap="rnd">
            <a:solidFill>
              <a:srgbClr val="FFDE59"/>
            </a:solidFill>
            <a:prstDash val="solid"/>
            <a:round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9924212" y="4191572"/>
            <a:ext cx="7335088" cy="5066728"/>
          </a:xfrm>
          <a:custGeom>
            <a:avLst/>
            <a:gdLst/>
            <a:ahLst/>
            <a:cxnLst/>
            <a:rect r="r" b="b" t="t" l="l"/>
            <a:pathLst>
              <a:path h="5066728" w="7335088">
                <a:moveTo>
                  <a:pt x="0" y="0"/>
                </a:moveTo>
                <a:lnTo>
                  <a:pt x="7335088" y="0"/>
                </a:lnTo>
                <a:lnTo>
                  <a:pt x="7335088" y="5066728"/>
                </a:lnTo>
                <a:lnTo>
                  <a:pt x="0" y="50667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430" r="0" b="-5146"/>
            </a:stretch>
          </a:blipFill>
          <a:ln w="19050" cap="rnd">
            <a:solidFill>
              <a:srgbClr val="FFDE59"/>
            </a:solidFill>
            <a:prstDash val="solid"/>
            <a:round/>
          </a:ln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4489" y="724489"/>
            <a:ext cx="8115300" cy="5928137"/>
          </a:xfrm>
          <a:custGeom>
            <a:avLst/>
            <a:gdLst/>
            <a:ahLst/>
            <a:cxnLst/>
            <a:rect r="r" b="b" t="t" l="l"/>
            <a:pathLst>
              <a:path h="5928137" w="8115300">
                <a:moveTo>
                  <a:pt x="0" y="0"/>
                </a:moveTo>
                <a:lnTo>
                  <a:pt x="8115300" y="0"/>
                </a:lnTo>
                <a:lnTo>
                  <a:pt x="8115300" y="5928136"/>
                </a:lnTo>
                <a:lnTo>
                  <a:pt x="0" y="5928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92" r="0" b="-1592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9683266" y="3667290"/>
            <a:ext cx="7960894" cy="5970671"/>
          </a:xfrm>
          <a:custGeom>
            <a:avLst/>
            <a:gdLst/>
            <a:ahLst/>
            <a:cxnLst/>
            <a:rect r="r" b="b" t="t" l="l"/>
            <a:pathLst>
              <a:path h="5970671" w="7960894">
                <a:moveTo>
                  <a:pt x="0" y="0"/>
                </a:moveTo>
                <a:lnTo>
                  <a:pt x="7960895" y="0"/>
                </a:lnTo>
                <a:lnTo>
                  <a:pt x="7960895" y="5970671"/>
                </a:lnTo>
                <a:lnTo>
                  <a:pt x="0" y="59706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9823" y="1028700"/>
            <a:ext cx="16508354" cy="8229600"/>
          </a:xfrm>
          <a:custGeom>
            <a:avLst/>
            <a:gdLst/>
            <a:ahLst/>
            <a:cxnLst/>
            <a:rect r="r" b="b" t="t" l="l"/>
            <a:pathLst>
              <a:path h="8229600" w="16508354">
                <a:moveTo>
                  <a:pt x="0" y="0"/>
                </a:moveTo>
                <a:lnTo>
                  <a:pt x="16508354" y="0"/>
                </a:lnTo>
                <a:lnTo>
                  <a:pt x="1650835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29" t="0" r="-1129" b="0"/>
            </a:stretch>
          </a:blipFill>
          <a:ln w="19050" cap="rnd">
            <a:solidFill>
              <a:srgbClr val="FFDE59"/>
            </a:solidFill>
            <a:prstDash val="solid"/>
            <a:round/>
          </a:ln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292437" y="-1521548"/>
            <a:ext cx="4102978" cy="2245448"/>
          </a:xfrm>
          <a:custGeom>
            <a:avLst/>
            <a:gdLst/>
            <a:ahLst/>
            <a:cxnLst/>
            <a:rect r="r" b="b" t="t" l="l"/>
            <a:pathLst>
              <a:path h="2245448" w="410297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716677" y="8198470"/>
            <a:ext cx="2734980" cy="2088530"/>
          </a:xfrm>
          <a:custGeom>
            <a:avLst/>
            <a:gdLst/>
            <a:ahLst/>
            <a:cxnLst/>
            <a:rect r="r" b="b" t="t" l="l"/>
            <a:pathLst>
              <a:path h="2088530" w="2734980">
                <a:moveTo>
                  <a:pt x="0" y="0"/>
                </a:moveTo>
                <a:lnTo>
                  <a:pt x="2734979" y="0"/>
                </a:lnTo>
                <a:lnTo>
                  <a:pt x="2734979" y="2088530"/>
                </a:lnTo>
                <a:lnTo>
                  <a:pt x="0" y="2088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878964" y="6805511"/>
            <a:ext cx="13185359" cy="1392959"/>
            <a:chOff x="0" y="0"/>
            <a:chExt cx="3714831" cy="3924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714831" cy="392451"/>
            </a:xfrm>
            <a:custGeom>
              <a:avLst/>
              <a:gdLst/>
              <a:ahLst/>
              <a:cxnLst/>
              <a:rect r="r" b="b" t="t" l="l"/>
              <a:pathLst>
                <a:path h="392451" w="3714831">
                  <a:moveTo>
                    <a:pt x="58716" y="0"/>
                  </a:moveTo>
                  <a:lnTo>
                    <a:pt x="3656114" y="0"/>
                  </a:lnTo>
                  <a:cubicBezTo>
                    <a:pt x="3671687" y="0"/>
                    <a:pt x="3686622" y="6186"/>
                    <a:pt x="3697633" y="17198"/>
                  </a:cubicBezTo>
                  <a:cubicBezTo>
                    <a:pt x="3708645" y="28209"/>
                    <a:pt x="3714831" y="43144"/>
                    <a:pt x="3714831" y="58716"/>
                  </a:cubicBezTo>
                  <a:lnTo>
                    <a:pt x="3714831" y="333735"/>
                  </a:lnTo>
                  <a:cubicBezTo>
                    <a:pt x="3714831" y="366163"/>
                    <a:pt x="3688543" y="392451"/>
                    <a:pt x="3656114" y="392451"/>
                  </a:cubicBezTo>
                  <a:lnTo>
                    <a:pt x="58716" y="392451"/>
                  </a:lnTo>
                  <a:cubicBezTo>
                    <a:pt x="26288" y="392451"/>
                    <a:pt x="0" y="366163"/>
                    <a:pt x="0" y="333735"/>
                  </a:cubicBezTo>
                  <a:lnTo>
                    <a:pt x="0" y="58716"/>
                  </a:lnTo>
                  <a:cubicBezTo>
                    <a:pt x="0" y="26288"/>
                    <a:pt x="26288" y="0"/>
                    <a:pt x="58716" y="0"/>
                  </a:cubicBezTo>
                  <a:close/>
                </a:path>
              </a:pathLst>
            </a:custGeom>
            <a:solidFill>
              <a:srgbClr val="5CE1E6"/>
            </a:solidFill>
            <a:ln w="9525" cap="rnd">
              <a:solidFill>
                <a:srgbClr val="106861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3714831" cy="411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497711" y="4587255"/>
            <a:ext cx="7076236" cy="1872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87"/>
              </a:lnSpc>
            </a:pPr>
            <a:r>
              <a:rPr lang="en-US" sz="2900">
                <a:solidFill>
                  <a:srgbClr val="FFFFFF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Nagorik Protidin</a:t>
            </a:r>
          </a:p>
          <a:p>
            <a:pPr algn="r">
              <a:lnSpc>
                <a:spcPts val="2987"/>
              </a:lnSpc>
            </a:pPr>
          </a:p>
          <a:p>
            <a:pPr algn="r">
              <a:lnSpc>
                <a:spcPts val="2987"/>
              </a:lnSpc>
            </a:pPr>
            <a:r>
              <a:rPr lang="en-US" sz="2900" spc="87">
                <a:solidFill>
                  <a:srgbClr val="FFFFFF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+88 01734 991111</a:t>
            </a:r>
          </a:p>
          <a:p>
            <a:pPr algn="r">
              <a:lnSpc>
                <a:spcPts val="2987"/>
              </a:lnSpc>
            </a:pPr>
            <a:r>
              <a:rPr lang="en-US" sz="2900" spc="87">
                <a:solidFill>
                  <a:srgbClr val="FFFFFF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sameer@nagorikprotidin.com</a:t>
            </a:r>
          </a:p>
          <a:p>
            <a:pPr algn="r">
              <a:lnSpc>
                <a:spcPts val="2987"/>
              </a:lnSpc>
            </a:pPr>
            <a:r>
              <a:rPr lang="en-US" sz="2900" spc="87">
                <a:solidFill>
                  <a:srgbClr val="FFFFFF"/>
                </a:solidFill>
                <a:latin typeface="Anek Bangla SemiCondensed"/>
                <a:ea typeface="Anek Bangla SemiCondensed"/>
                <a:cs typeface="Anek Bangla SemiCondensed"/>
                <a:sym typeface="Anek Bangla SemiCondensed"/>
              </a:rPr>
              <a:t>www.nagorikprotidin.com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01402" y="3128444"/>
            <a:ext cx="10620170" cy="1482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100"/>
              </a:lnSpc>
            </a:pPr>
            <a:r>
              <a:rPr lang="en-US" b="true" sz="11100">
                <a:solidFill>
                  <a:srgbClr val="FFFFFF"/>
                </a:solidFill>
                <a:latin typeface="Anek Bangla SemiCondensed Bold"/>
                <a:ea typeface="Anek Bangla SemiCondensed Bold"/>
                <a:cs typeface="Anek Bangla SemiCondensed Bold"/>
                <a:sym typeface="Anek Bangla SemiCondensed Bold"/>
              </a:rPr>
              <a:t>THANK YOU</a:t>
            </a:r>
          </a:p>
        </p:txBody>
      </p:sp>
      <p:grpSp>
        <p:nvGrpSpPr>
          <p:cNvPr name="Group 12" id="12"/>
          <p:cNvGrpSpPr/>
          <p:nvPr/>
        </p:nvGrpSpPr>
        <p:grpSpPr>
          <a:xfrm rot="5400000">
            <a:off x="14634207" y="6352254"/>
            <a:ext cx="6559839" cy="1309653"/>
            <a:chOff x="0" y="0"/>
            <a:chExt cx="1848163" cy="3689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48163" cy="368980"/>
            </a:xfrm>
            <a:custGeom>
              <a:avLst/>
              <a:gdLst/>
              <a:ahLst/>
              <a:cxnLst/>
              <a:rect r="r" b="b" t="t" l="l"/>
              <a:pathLst>
                <a:path h="368980" w="1848163">
                  <a:moveTo>
                    <a:pt x="118020" y="0"/>
                  </a:moveTo>
                  <a:lnTo>
                    <a:pt x="1730143" y="0"/>
                  </a:lnTo>
                  <a:cubicBezTo>
                    <a:pt x="1795324" y="0"/>
                    <a:pt x="1848163" y="52839"/>
                    <a:pt x="1848163" y="118020"/>
                  </a:cubicBezTo>
                  <a:lnTo>
                    <a:pt x="1848163" y="250960"/>
                  </a:lnTo>
                  <a:cubicBezTo>
                    <a:pt x="1848163" y="282261"/>
                    <a:pt x="1835729" y="312280"/>
                    <a:pt x="1813596" y="334413"/>
                  </a:cubicBezTo>
                  <a:cubicBezTo>
                    <a:pt x="1791463" y="356546"/>
                    <a:pt x="1761444" y="368980"/>
                    <a:pt x="1730143" y="368980"/>
                  </a:cubicBezTo>
                  <a:lnTo>
                    <a:pt x="118020" y="368980"/>
                  </a:lnTo>
                  <a:cubicBezTo>
                    <a:pt x="86719" y="368980"/>
                    <a:pt x="56700" y="356546"/>
                    <a:pt x="34567" y="334413"/>
                  </a:cubicBezTo>
                  <a:cubicBezTo>
                    <a:pt x="12434" y="312280"/>
                    <a:pt x="0" y="282261"/>
                    <a:pt x="0" y="250960"/>
                  </a:cubicBezTo>
                  <a:lnTo>
                    <a:pt x="0" y="118020"/>
                  </a:lnTo>
                  <a:cubicBezTo>
                    <a:pt x="0" y="86719"/>
                    <a:pt x="12434" y="56700"/>
                    <a:pt x="34567" y="34567"/>
                  </a:cubicBezTo>
                  <a:cubicBezTo>
                    <a:pt x="56700" y="12434"/>
                    <a:pt x="86719" y="0"/>
                    <a:pt x="11802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848163" cy="3880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237609" y="7180832"/>
            <a:ext cx="11383963" cy="642318"/>
            <a:chOff x="0" y="0"/>
            <a:chExt cx="15178617" cy="85642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8490244" y="0"/>
              <a:ext cx="1548742" cy="856423"/>
            </a:xfrm>
            <a:custGeom>
              <a:avLst/>
              <a:gdLst/>
              <a:ahLst/>
              <a:cxnLst/>
              <a:rect r="r" b="b" t="t" l="l"/>
              <a:pathLst>
                <a:path h="856423" w="1548742">
                  <a:moveTo>
                    <a:pt x="0" y="0"/>
                  </a:moveTo>
                  <a:lnTo>
                    <a:pt x="1548742" y="0"/>
                  </a:lnTo>
                  <a:lnTo>
                    <a:pt x="1548742" y="856423"/>
                  </a:lnTo>
                  <a:lnTo>
                    <a:pt x="0" y="856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0305686" y="145875"/>
              <a:ext cx="1266611" cy="520894"/>
            </a:xfrm>
            <a:custGeom>
              <a:avLst/>
              <a:gdLst/>
              <a:ahLst/>
              <a:cxnLst/>
              <a:rect r="r" b="b" t="t" l="l"/>
              <a:pathLst>
                <a:path h="520894" w="1266611">
                  <a:moveTo>
                    <a:pt x="0" y="0"/>
                  </a:moveTo>
                  <a:lnTo>
                    <a:pt x="1266611" y="0"/>
                  </a:lnTo>
                  <a:lnTo>
                    <a:pt x="1266611" y="520894"/>
                  </a:lnTo>
                  <a:lnTo>
                    <a:pt x="0" y="520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999965" y="207885"/>
              <a:ext cx="1358066" cy="440653"/>
            </a:xfrm>
            <a:custGeom>
              <a:avLst/>
              <a:gdLst/>
              <a:ahLst/>
              <a:cxnLst/>
              <a:rect r="r" b="b" t="t" l="l"/>
              <a:pathLst>
                <a:path h="440653" w="1358066">
                  <a:moveTo>
                    <a:pt x="0" y="0"/>
                  </a:moveTo>
                  <a:lnTo>
                    <a:pt x="1358066" y="0"/>
                  </a:lnTo>
                  <a:lnTo>
                    <a:pt x="1358066" y="440653"/>
                  </a:lnTo>
                  <a:lnTo>
                    <a:pt x="0" y="440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38254" r="-1892" b="-38384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3895801" y="171648"/>
              <a:ext cx="1282816" cy="513126"/>
            </a:xfrm>
            <a:custGeom>
              <a:avLst/>
              <a:gdLst/>
              <a:ahLst/>
              <a:cxnLst/>
              <a:rect r="r" b="b" t="t" l="l"/>
              <a:pathLst>
                <a:path h="513126" w="1282816">
                  <a:moveTo>
                    <a:pt x="0" y="0"/>
                  </a:moveTo>
                  <a:lnTo>
                    <a:pt x="1282816" y="0"/>
                  </a:lnTo>
                  <a:lnTo>
                    <a:pt x="1282816" y="513127"/>
                  </a:lnTo>
                  <a:lnTo>
                    <a:pt x="0" y="513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3557673" y="247647"/>
              <a:ext cx="1983805" cy="317409"/>
            </a:xfrm>
            <a:custGeom>
              <a:avLst/>
              <a:gdLst/>
              <a:ahLst/>
              <a:cxnLst/>
              <a:rect r="r" b="b" t="t" l="l"/>
              <a:pathLst>
                <a:path h="317409" w="1983805">
                  <a:moveTo>
                    <a:pt x="0" y="0"/>
                  </a:moveTo>
                  <a:lnTo>
                    <a:pt x="1983806" y="0"/>
                  </a:lnTo>
                  <a:lnTo>
                    <a:pt x="1983806" y="317408"/>
                  </a:lnTo>
                  <a:lnTo>
                    <a:pt x="0" y="317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0" y="188141"/>
              <a:ext cx="1904174" cy="4216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419"/>
                </a:lnSpc>
              </a:pPr>
              <a:r>
                <a:rPr lang="en-US" sz="2199">
                  <a:solidFill>
                    <a:srgbClr val="FFFFFF"/>
                  </a:solidFill>
                  <a:latin typeface="Anek Bangla SemiCondensed"/>
                  <a:ea typeface="Anek Bangla SemiCondensed"/>
                  <a:cs typeface="Anek Bangla SemiCondensed"/>
                  <a:sym typeface="Anek Bangla SemiCondensed"/>
                </a:rPr>
                <a:t>Organized By-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5744679" y="205045"/>
              <a:ext cx="2477769" cy="421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419"/>
                </a:lnSpc>
              </a:pPr>
              <a:r>
                <a:rPr lang="en-US" sz="2199">
                  <a:solidFill>
                    <a:srgbClr val="FFFFFF"/>
                  </a:solidFill>
                  <a:latin typeface="Anek Bangla SemiCondensed"/>
                  <a:ea typeface="Anek Bangla SemiCondensed"/>
                  <a:cs typeface="Anek Bangla SemiCondensed"/>
                  <a:sym typeface="Anek Bangla SemiCondensed"/>
                </a:rPr>
                <a:t>Strategic Partner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1316432" y="188141"/>
              <a:ext cx="2477769" cy="4216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419"/>
                </a:lnSpc>
              </a:pPr>
              <a:r>
                <a:rPr lang="en-US" sz="2199">
                  <a:solidFill>
                    <a:srgbClr val="FFFFFF"/>
                  </a:solidFill>
                  <a:latin typeface="Anek Bangla SemiCondensed"/>
                  <a:ea typeface="Anek Bangla SemiCondensed"/>
                  <a:cs typeface="Anek Bangla SemiCondensed"/>
                  <a:sym typeface="Anek Bangla SemiCondensed"/>
                </a:rPr>
                <a:t>In Association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DAG9bzUFi9A</dc:identifier>
  <dcterms:modified xsi:type="dcterms:W3CDTF">2011-08-01T06:04:30Z</dcterms:modified>
  <cp:revision>1</cp:revision>
  <dc:title>International Trade &amp; Tourism Expo 2026</dc:title>
</cp:coreProperties>
</file>